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5"/>
  </p:handoutMasterIdLst>
  <p:sldIdLst>
    <p:sldId id="256" r:id="rId2"/>
    <p:sldId id="258" r:id="rId3"/>
    <p:sldId id="257" r:id="rId4"/>
    <p:sldId id="268" r:id="rId5"/>
    <p:sldId id="269" r:id="rId6"/>
    <p:sldId id="276" r:id="rId7"/>
    <p:sldId id="270" r:id="rId8"/>
    <p:sldId id="271" r:id="rId9"/>
    <p:sldId id="272" r:id="rId10"/>
    <p:sldId id="273" r:id="rId11"/>
    <p:sldId id="274" r:id="rId12"/>
    <p:sldId id="277"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3A3C"/>
    <a:srgbClr val="F69824"/>
    <a:srgbClr val="9CB7EC"/>
    <a:srgbClr val="FFCB08"/>
    <a:srgbClr val="011A53"/>
    <a:srgbClr val="001A52"/>
    <a:srgbClr val="CC242F"/>
    <a:srgbClr val="FDE2CF"/>
    <a:srgbClr val="CF252F"/>
    <a:srgbClr val="DD56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309" autoAdjust="0"/>
    <p:restoredTop sz="94660"/>
  </p:normalViewPr>
  <p:slideViewPr>
    <p:cSldViewPr snapToGrid="0">
      <p:cViewPr varScale="1">
        <p:scale>
          <a:sx n="85" d="100"/>
          <a:sy n="85" d="100"/>
        </p:scale>
        <p:origin x="62" y="67"/>
      </p:cViewPr>
      <p:guideLst/>
    </p:cSldViewPr>
  </p:slideViewPr>
  <p:notesTextViewPr>
    <p:cViewPr>
      <p:scale>
        <a:sx n="1" d="1"/>
        <a:sy n="1" d="1"/>
      </p:scale>
      <p:origin x="0" y="0"/>
    </p:cViewPr>
  </p:notesTextViewPr>
  <p:notesViewPr>
    <p:cSldViewPr snapToGrid="0">
      <p:cViewPr varScale="1">
        <p:scale>
          <a:sx n="97" d="100"/>
          <a:sy n="97" d="100"/>
        </p:scale>
        <p:origin x="3624" y="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8A0489-57DA-FAAA-9339-4360C4DF05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3BCB61E-468F-2777-1F8B-71F8F99FFC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1EE071-9A97-4411-B3DE-1E1DE3F512CD}" type="datetimeFigureOut">
              <a:rPr lang="en-IN" smtClean="0"/>
              <a:t>24-08-2024</a:t>
            </a:fld>
            <a:endParaRPr lang="en-IN"/>
          </a:p>
        </p:txBody>
      </p:sp>
      <p:sp>
        <p:nvSpPr>
          <p:cNvPr id="4" name="Footer Placeholder 3">
            <a:extLst>
              <a:ext uri="{FF2B5EF4-FFF2-40B4-BE49-F238E27FC236}">
                <a16:creationId xmlns:a16="http://schemas.microsoft.com/office/drawing/2014/main" id="{CF22F13B-8E0B-037C-4387-C481C1DF8B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80D002C-AC33-D9CB-E037-7F403AC1E4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08BD93-F8DA-4376-A546-7CAD6C55D8AF}" type="slidenum">
              <a:rPr lang="en-IN" smtClean="0"/>
              <a:t>‹#›</a:t>
            </a:fld>
            <a:endParaRPr lang="en-IN"/>
          </a:p>
        </p:txBody>
      </p:sp>
    </p:spTree>
    <p:extLst>
      <p:ext uri="{BB962C8B-B14F-4D97-AF65-F5344CB8AC3E}">
        <p14:creationId xmlns:p14="http://schemas.microsoft.com/office/powerpoint/2010/main" val="99367536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67ABD5-A362-45EF-9987-2C6186739F84}" type="datetimeFigureOut">
              <a:rPr lang="en-IN" smtClean="0"/>
              <a:t>24-08-2024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178BE4-E71A-4AE6-8999-30644C9071D1}" type="slidenum">
              <a:rPr lang="en-IN" smtClean="0"/>
              <a:t>‹#›</a:t>
            </a:fld>
            <a:endParaRPr lang="en-IN"/>
          </a:p>
        </p:txBody>
      </p:sp>
    </p:spTree>
    <p:extLst>
      <p:ext uri="{BB962C8B-B14F-4D97-AF65-F5344CB8AC3E}">
        <p14:creationId xmlns:p14="http://schemas.microsoft.com/office/powerpoint/2010/main" val="139880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A26E215-7AF7-4C01-AC6C-179F67C2B9BA}"/>
              </a:ext>
            </a:extLst>
          </p:cNvPr>
          <p:cNvSpPr txBox="1">
            <a:spLocks/>
          </p:cNvSpPr>
          <p:nvPr userDrawn="1"/>
        </p:nvSpPr>
        <p:spPr>
          <a:xfrm>
            <a:off x="219044" y="2880361"/>
            <a:ext cx="3265836" cy="787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000" b="1" dirty="0">
              <a:solidFill>
                <a:srgbClr val="FFFFFF"/>
              </a:solidFill>
              <a:latin typeface="Sitka Small" panose="02000505000000020004" pitchFamily="2" charset="0"/>
            </a:endParaRPr>
          </a:p>
        </p:txBody>
      </p:sp>
      <p:sp>
        <p:nvSpPr>
          <p:cNvPr id="10" name="L-Shape 9"/>
          <p:cNvSpPr/>
          <p:nvPr userDrawn="1"/>
        </p:nvSpPr>
        <p:spPr>
          <a:xfrm>
            <a:off x="0" y="1860213"/>
            <a:ext cx="528639" cy="5010666"/>
          </a:xfrm>
          <a:prstGeom prst="corner">
            <a:avLst/>
          </a:prstGeom>
          <a:solidFill>
            <a:srgbClr val="FF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Shape 10"/>
          <p:cNvSpPr/>
          <p:nvPr userDrawn="1"/>
        </p:nvSpPr>
        <p:spPr>
          <a:xfrm rot="10800000" flipH="1">
            <a:off x="-1" y="-12879"/>
            <a:ext cx="528639" cy="5010666"/>
          </a:xfrm>
          <a:prstGeom prst="corner">
            <a:avLst/>
          </a:prstGeom>
          <a:solidFill>
            <a:srgbClr val="001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p:cNvSpPr/>
          <p:nvPr userDrawn="1"/>
        </p:nvSpPr>
        <p:spPr>
          <a:xfrm>
            <a:off x="246888" y="0"/>
            <a:ext cx="3177308" cy="6858000"/>
          </a:xfrm>
          <a:prstGeom prst="rect">
            <a:avLst/>
          </a:prstGeom>
          <a:solidFill>
            <a:schemeClr val="accent2">
              <a:lumMod val="60000"/>
              <a:lumOff val="40000"/>
            </a:schemeClr>
          </a:solidFill>
          <a:ln w="12700">
            <a:miter lim="400000"/>
          </a:ln>
        </p:spPr>
        <p:txBody>
          <a:bodyPr lIns="71437" tIns="71437" rIns="71437" bIns="71437" anchor="ctr"/>
          <a:lstStyle/>
          <a:p>
            <a:pPr algn="ctr">
              <a:lnSpc>
                <a:spcPct val="100000"/>
              </a:lnSpc>
              <a:defRPr sz="3000" baseline="0">
                <a:solidFill>
                  <a:srgbClr val="FFFFFF"/>
                </a:solidFill>
                <a:latin typeface="Helvetica Neue Medium"/>
                <a:ea typeface="Helvetica Neue Medium"/>
                <a:cs typeface="Helvetica Neue Medium"/>
                <a:sym typeface="Helvetica Neue Medium"/>
              </a:defRPr>
            </a:pPr>
            <a:endParaRPr/>
          </a:p>
        </p:txBody>
      </p:sp>
      <p:sp>
        <p:nvSpPr>
          <p:cNvPr id="13" name="Text Placeholder 1"/>
          <p:cNvSpPr>
            <a:spLocks noGrp="1"/>
          </p:cNvSpPr>
          <p:nvPr>
            <p:ph type="body" sz="quarter" idx="4294967295"/>
          </p:nvPr>
        </p:nvSpPr>
        <p:spPr>
          <a:xfrm>
            <a:off x="295414" y="2799465"/>
            <a:ext cx="3362007" cy="671512"/>
          </a:xfrm>
        </p:spPr>
        <p:txBody>
          <a:bodyPr>
            <a:noAutofit/>
          </a:bodyPr>
          <a:lstStyle/>
          <a:p>
            <a:pPr marL="0" indent="0">
              <a:buNone/>
            </a:pPr>
            <a:r>
              <a:rPr lang="en-US" altLang="en-US" sz="4800" b="1" dirty="0">
                <a:solidFill>
                  <a:schemeClr val="tx1">
                    <a:lumMod val="95000"/>
                    <a:lumOff val="5000"/>
                  </a:schemeClr>
                </a:solidFill>
                <a:latin typeface="Lucida Console" panose="020B0609040504020204" pitchFamily="49" charset="0"/>
              </a:rPr>
              <a:t>Contents</a:t>
            </a:r>
            <a:endParaRPr lang="en-US" sz="4800" dirty="0">
              <a:solidFill>
                <a:schemeClr val="tx1">
                  <a:lumMod val="95000"/>
                  <a:lumOff val="5000"/>
                </a:schemeClr>
              </a:solidFill>
              <a:latin typeface="Lucida Console" panose="020B0609040504020204" pitchFamily="49" charset="0"/>
            </a:endParaRPr>
          </a:p>
        </p:txBody>
      </p:sp>
      <p:pic>
        <p:nvPicPr>
          <p:cNvPr id="2" name="Picture 1" descr="A close-up of a logo&#10;&#10;Description automatically generated">
            <a:extLst>
              <a:ext uri="{FF2B5EF4-FFF2-40B4-BE49-F238E27FC236}">
                <a16:creationId xmlns:a16="http://schemas.microsoft.com/office/drawing/2014/main" id="{3624026A-FD35-F803-861B-5608F0BF20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76182" y="237541"/>
            <a:ext cx="2348458" cy="671512"/>
          </a:xfrm>
          <a:prstGeom prst="rect">
            <a:avLst/>
          </a:prstGeom>
        </p:spPr>
      </p:pic>
    </p:spTree>
    <p:extLst>
      <p:ext uri="{BB962C8B-B14F-4D97-AF65-F5344CB8AC3E}">
        <p14:creationId xmlns:p14="http://schemas.microsoft.com/office/powerpoint/2010/main" val="1724749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4" name="Group 3"/>
          <p:cNvGrpSpPr/>
          <p:nvPr userDrawn="1"/>
        </p:nvGrpSpPr>
        <p:grpSpPr>
          <a:xfrm>
            <a:off x="186284" y="418665"/>
            <a:ext cx="4167350" cy="686803"/>
            <a:chOff x="6455844" y="2546168"/>
            <a:chExt cx="921572" cy="94830"/>
          </a:xfrm>
          <a:solidFill>
            <a:srgbClr val="E02317"/>
          </a:solidFill>
        </p:grpSpPr>
        <p:sp>
          <p:nvSpPr>
            <p:cNvPr id="5" name="Rounded Rectangle 4"/>
            <p:cNvSpPr/>
            <p:nvPr/>
          </p:nvSpPr>
          <p:spPr>
            <a:xfrm>
              <a:off x="6730543" y="2546168"/>
              <a:ext cx="646873" cy="94830"/>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55844" y="2546168"/>
              <a:ext cx="191810" cy="9483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875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8495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1" name="Picture 10" descr="A building with a lawn&#10;&#10;Description automatically generated">
            <a:extLst>
              <a:ext uri="{FF2B5EF4-FFF2-40B4-BE49-F238E27FC236}">
                <a16:creationId xmlns:a16="http://schemas.microsoft.com/office/drawing/2014/main" id="{EFA165F6-5358-D2ED-F5DF-0C09F6671252}"/>
              </a:ext>
            </a:extLst>
          </p:cNvPr>
          <p:cNvPicPr>
            <a:picLocks noChangeAspect="1"/>
          </p:cNvPicPr>
          <p:nvPr userDrawn="1"/>
        </p:nvPicPr>
        <p:blipFill>
          <a:blip r:embed="rId2">
            <a:alphaModFix amt="35000"/>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a:effectLst>
            <a:softEdge rad="96940"/>
          </a:effectLst>
        </p:spPr>
      </p:pic>
      <p:sp>
        <p:nvSpPr>
          <p:cNvPr id="14" name="Rectangle 13"/>
          <p:cNvSpPr/>
          <p:nvPr userDrawn="1"/>
        </p:nvSpPr>
        <p:spPr>
          <a:xfrm>
            <a:off x="0" y="1651081"/>
            <a:ext cx="12192000" cy="1138773"/>
          </a:xfrm>
          <a:prstGeom prst="rect">
            <a:avLst/>
          </a:prstGeom>
        </p:spPr>
        <p:txBody>
          <a:bodyPr wrap="square">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600" b="1" i="0" kern="1200" dirty="0">
                <a:solidFill>
                  <a:schemeClr val="tx1"/>
                </a:solidFill>
                <a:effectLst/>
                <a:latin typeface="Trebuchet MS" panose="020B0703020202090204" pitchFamily="34" charset="0"/>
                <a:ea typeface="+mn-ea"/>
                <a:cs typeface="+mn-cs"/>
              </a:rPr>
              <a:t>International Conference On </a:t>
            </a:r>
          </a:p>
          <a:p>
            <a:pPr marL="0" marR="0" indent="0" algn="ctr" defTabSz="914400" rtl="0" eaLnBrk="1" fontAlgn="auto" latinLnBrk="0" hangingPunct="1">
              <a:lnSpc>
                <a:spcPct val="100000"/>
              </a:lnSpc>
              <a:spcBef>
                <a:spcPts val="0"/>
              </a:spcBef>
              <a:spcAft>
                <a:spcPts val="0"/>
              </a:spcAft>
              <a:buClrTx/>
              <a:buSzTx/>
              <a:buFontTx/>
              <a:buNone/>
              <a:tabLst/>
              <a:defRPr/>
            </a:pPr>
            <a:r>
              <a:rPr lang="en-US" sz="3250" b="1" i="0" kern="1200" dirty="0">
                <a:solidFill>
                  <a:schemeClr val="accent3">
                    <a:lumMod val="75000"/>
                  </a:schemeClr>
                </a:solidFill>
                <a:effectLst/>
                <a:latin typeface="Trebuchet MS" panose="020B0703020202090204" pitchFamily="34" charset="0"/>
                <a:ea typeface="+mn-ea"/>
                <a:cs typeface="+mn-cs"/>
              </a:rPr>
              <a:t>Intelligent Algorithms For Computational Intelligence Systems</a:t>
            </a:r>
          </a:p>
        </p:txBody>
      </p:sp>
      <p:sp>
        <p:nvSpPr>
          <p:cNvPr id="17" name="Title 1"/>
          <p:cNvSpPr>
            <a:spLocks noGrp="1"/>
          </p:cNvSpPr>
          <p:nvPr>
            <p:ph type="title" hasCustomPrompt="1"/>
          </p:nvPr>
        </p:nvSpPr>
        <p:spPr>
          <a:xfrm>
            <a:off x="3074369" y="4660142"/>
            <a:ext cx="6151880" cy="612962"/>
          </a:xfrm>
        </p:spPr>
        <p:txBody>
          <a:bodyPr>
            <a:noAutofit/>
          </a:bodyPr>
          <a:lstStyle>
            <a:lvl1pPr algn="ctr">
              <a:defRPr sz="2800" b="1">
                <a:latin typeface="Bahnschrift" panose="020B0502040204020203" pitchFamily="34" charset="0"/>
              </a:defRPr>
            </a:lvl1pPr>
          </a:lstStyle>
          <a:p>
            <a:r>
              <a:rPr lang="en-US" dirty="0"/>
              <a:t>Paper Title</a:t>
            </a:r>
            <a:endParaRPr lang="en-IN" dirty="0"/>
          </a:p>
        </p:txBody>
      </p:sp>
      <p:sp>
        <p:nvSpPr>
          <p:cNvPr id="13" name="TextBox 12">
            <a:extLst>
              <a:ext uri="{FF2B5EF4-FFF2-40B4-BE49-F238E27FC236}">
                <a16:creationId xmlns:a16="http://schemas.microsoft.com/office/drawing/2014/main" id="{20C8F7D8-B9C1-5BC1-5DF5-3F5B4884F1A0}"/>
              </a:ext>
            </a:extLst>
          </p:cNvPr>
          <p:cNvSpPr txBox="1"/>
          <p:nvPr userDrawn="1"/>
        </p:nvSpPr>
        <p:spPr>
          <a:xfrm>
            <a:off x="4785360" y="2816942"/>
            <a:ext cx="2729898" cy="523220"/>
          </a:xfrm>
          <a:prstGeom prst="rect">
            <a:avLst/>
          </a:prstGeom>
          <a:noFill/>
        </p:spPr>
        <p:txBody>
          <a:bodyPr wrap="square">
            <a:spAutoFit/>
          </a:bodyPr>
          <a:lstStyle/>
          <a:p>
            <a:pPr algn="ctr"/>
            <a:r>
              <a:rPr lang="en-US" sz="2800" b="1" i="0" kern="1200" dirty="0">
                <a:solidFill>
                  <a:schemeClr val="tx1"/>
                </a:solidFill>
                <a:effectLst/>
                <a:latin typeface="Trebuchet MS" panose="020B0703020202090204" pitchFamily="34" charset="0"/>
                <a:ea typeface="+mn-ea"/>
                <a:cs typeface="+mn-cs"/>
              </a:rPr>
              <a:t>(IACIS - 2024)</a:t>
            </a:r>
            <a:endParaRPr lang="en-US" sz="2800" b="1" dirty="0">
              <a:solidFill>
                <a:schemeClr val="tx1"/>
              </a:solidFill>
              <a:latin typeface="Trebuchet MS" panose="020B0703020202090204" pitchFamily="34" charset="0"/>
            </a:endParaRPr>
          </a:p>
        </p:txBody>
      </p:sp>
      <p:sp>
        <p:nvSpPr>
          <p:cNvPr id="2" name="Rectangle 1">
            <a:extLst>
              <a:ext uri="{FF2B5EF4-FFF2-40B4-BE49-F238E27FC236}">
                <a16:creationId xmlns:a16="http://schemas.microsoft.com/office/drawing/2014/main" id="{218C5E5F-558F-9C34-0CC2-8F0086F7521C}"/>
              </a:ext>
            </a:extLst>
          </p:cNvPr>
          <p:cNvSpPr/>
          <p:nvPr userDrawn="1"/>
        </p:nvSpPr>
        <p:spPr>
          <a:xfrm>
            <a:off x="4940789" y="3275531"/>
            <a:ext cx="2310417" cy="400110"/>
          </a:xfrm>
          <a:prstGeom prst="rect">
            <a:avLst/>
          </a:prstGeom>
        </p:spPr>
        <p:txBody>
          <a:bodyPr wrap="square">
            <a:spAutoFit/>
          </a:bodyPr>
          <a:lstStyle/>
          <a:p>
            <a:pPr algn="ctr"/>
            <a:r>
              <a:rPr lang="en-US" sz="2000" b="1" dirty="0">
                <a:solidFill>
                  <a:srgbClr val="FF0000"/>
                </a:solidFill>
                <a:latin typeface="Bahnschrift" panose="020B0502040204020203" pitchFamily="34" charset="0"/>
              </a:rPr>
              <a:t>23-24 August</a:t>
            </a:r>
          </a:p>
        </p:txBody>
      </p:sp>
      <p:pic>
        <p:nvPicPr>
          <p:cNvPr id="6" name="Picture 5">
            <a:extLst>
              <a:ext uri="{FF2B5EF4-FFF2-40B4-BE49-F238E27FC236}">
                <a16:creationId xmlns:a16="http://schemas.microsoft.com/office/drawing/2014/main" id="{B0818D51-8702-FD15-BF5B-DA8338ECCC1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7390" b="3662"/>
          <a:stretch/>
        </p:blipFill>
        <p:spPr>
          <a:xfrm>
            <a:off x="3187052" y="82062"/>
            <a:ext cx="5817887" cy="1477754"/>
          </a:xfrm>
          <a:prstGeom prst="rect">
            <a:avLst/>
          </a:prstGeom>
        </p:spPr>
      </p:pic>
      <p:sp>
        <p:nvSpPr>
          <p:cNvPr id="16" name="Rectangle 15"/>
          <p:cNvSpPr/>
          <p:nvPr userDrawn="1"/>
        </p:nvSpPr>
        <p:spPr>
          <a:xfrm>
            <a:off x="4940791" y="3586217"/>
            <a:ext cx="2310417" cy="400110"/>
          </a:xfrm>
          <a:prstGeom prst="rect">
            <a:avLst/>
          </a:prstGeom>
        </p:spPr>
        <p:txBody>
          <a:bodyPr wrap="square">
            <a:spAutoFit/>
          </a:bodyPr>
          <a:lstStyle/>
          <a:p>
            <a:pPr algn="ctr"/>
            <a:r>
              <a:rPr lang="en-US" sz="2000" dirty="0">
                <a:latin typeface="Bahnschrift" panose="020B0502040204020203" pitchFamily="34" charset="0"/>
              </a:rPr>
              <a:t>In association with</a:t>
            </a:r>
          </a:p>
        </p:txBody>
      </p:sp>
      <p:pic>
        <p:nvPicPr>
          <p:cNvPr id="8" name="Picture 7">
            <a:extLst>
              <a:ext uri="{FF2B5EF4-FFF2-40B4-BE49-F238E27FC236}">
                <a16:creationId xmlns:a16="http://schemas.microsoft.com/office/drawing/2014/main" id="{1AE1BF55-8E1E-8AF2-5CDE-67BE9DFFD15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11838" y="4022204"/>
            <a:ext cx="2168314" cy="481848"/>
          </a:xfrm>
          <a:prstGeom prst="rect">
            <a:avLst/>
          </a:prstGeom>
        </p:spPr>
      </p:pic>
    </p:spTree>
    <p:extLst>
      <p:ext uri="{BB962C8B-B14F-4D97-AF65-F5344CB8AC3E}">
        <p14:creationId xmlns:p14="http://schemas.microsoft.com/office/powerpoint/2010/main" val="2489597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0" name="Content Placeholder 19"/>
          <p:cNvSpPr>
            <a:spLocks noGrp="1"/>
          </p:cNvSpPr>
          <p:nvPr>
            <p:ph sz="quarter" idx="10" hasCustomPrompt="1"/>
          </p:nvPr>
        </p:nvSpPr>
        <p:spPr>
          <a:xfrm>
            <a:off x="335280" y="1872558"/>
            <a:ext cx="11338560" cy="4593614"/>
          </a:xfrm>
        </p:spPr>
        <p:txBody>
          <a:bodyPr/>
          <a:lstStyle>
            <a:lvl1pPr>
              <a:defRPr baseline="0"/>
            </a:lvl1pPr>
          </a:lstStyle>
          <a:p>
            <a:pPr lvl="0"/>
            <a:r>
              <a:rPr lang="en-US" dirty="0"/>
              <a:t>Click to add text</a:t>
            </a:r>
          </a:p>
        </p:txBody>
      </p:sp>
      <p:sp>
        <p:nvSpPr>
          <p:cNvPr id="24" name="Text Placeholder 23"/>
          <p:cNvSpPr>
            <a:spLocks noGrp="1"/>
          </p:cNvSpPr>
          <p:nvPr>
            <p:ph type="body" sz="quarter" idx="11"/>
          </p:nvPr>
        </p:nvSpPr>
        <p:spPr>
          <a:xfrm>
            <a:off x="1077913" y="569913"/>
            <a:ext cx="5659437" cy="671512"/>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408422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3" name="Content Placeholder 19"/>
          <p:cNvSpPr>
            <a:spLocks noGrp="1"/>
          </p:cNvSpPr>
          <p:nvPr>
            <p:ph sz="quarter" idx="10" hasCustomPrompt="1"/>
          </p:nvPr>
        </p:nvSpPr>
        <p:spPr>
          <a:xfrm>
            <a:off x="447040" y="1394054"/>
            <a:ext cx="11277600" cy="4913820"/>
          </a:xfrm>
        </p:spPr>
        <p:txBody>
          <a:bodyPr/>
          <a:lstStyle>
            <a:lvl1pPr>
              <a:defRPr baseline="0"/>
            </a:lvl1pPr>
          </a:lstStyle>
          <a:p>
            <a:pPr lvl="0"/>
            <a:r>
              <a:rPr lang="en-US" dirty="0"/>
              <a:t>Click to add text</a:t>
            </a:r>
          </a:p>
        </p:txBody>
      </p:sp>
      <p:sp>
        <p:nvSpPr>
          <p:cNvPr id="24" name="Freeform 11"/>
          <p:cNvSpPr>
            <a:spLocks noEditPoints="1"/>
          </p:cNvSpPr>
          <p:nvPr userDrawn="1"/>
        </p:nvSpPr>
        <p:spPr bwMode="auto">
          <a:xfrm>
            <a:off x="18114914" y="2573433"/>
            <a:ext cx="646417" cy="801166"/>
          </a:xfrm>
          <a:custGeom>
            <a:avLst/>
            <a:gdLst>
              <a:gd name="T0" fmla="*/ 55 w 55"/>
              <a:gd name="T1" fmla="*/ 67 h 68"/>
              <a:gd name="T2" fmla="*/ 51 w 55"/>
              <a:gd name="T3" fmla="*/ 47 h 68"/>
              <a:gd name="T4" fmla="*/ 51 w 55"/>
              <a:gd name="T5" fmla="*/ 47 h 68"/>
              <a:gd name="T6" fmla="*/ 51 w 55"/>
              <a:gd name="T7" fmla="*/ 47 h 68"/>
              <a:gd name="T8" fmla="*/ 51 w 55"/>
              <a:gd name="T9" fmla="*/ 47 h 68"/>
              <a:gd name="T10" fmla="*/ 51 w 55"/>
              <a:gd name="T11" fmla="*/ 47 h 68"/>
              <a:gd name="T12" fmla="*/ 19 w 55"/>
              <a:gd name="T13" fmla="*/ 6 h 68"/>
              <a:gd name="T14" fmla="*/ 19 w 55"/>
              <a:gd name="T15" fmla="*/ 6 h 68"/>
              <a:gd name="T16" fmla="*/ 8 w 55"/>
              <a:gd name="T17" fmla="*/ 3 h 68"/>
              <a:gd name="T18" fmla="*/ 4 w 55"/>
              <a:gd name="T19" fmla="*/ 6 h 68"/>
              <a:gd name="T20" fmla="*/ 3 w 55"/>
              <a:gd name="T21" fmla="*/ 18 h 68"/>
              <a:gd name="T22" fmla="*/ 35 w 55"/>
              <a:gd name="T23" fmla="*/ 59 h 68"/>
              <a:gd name="T24" fmla="*/ 35 w 55"/>
              <a:gd name="T25" fmla="*/ 59 h 68"/>
              <a:gd name="T26" fmla="*/ 35 w 55"/>
              <a:gd name="T27" fmla="*/ 59 h 68"/>
              <a:gd name="T28" fmla="*/ 35 w 55"/>
              <a:gd name="T29" fmla="*/ 59 h 68"/>
              <a:gd name="T30" fmla="*/ 35 w 55"/>
              <a:gd name="T31" fmla="*/ 59 h 68"/>
              <a:gd name="T32" fmla="*/ 53 w 55"/>
              <a:gd name="T33" fmla="*/ 68 h 68"/>
              <a:gd name="T34" fmla="*/ 54 w 55"/>
              <a:gd name="T35" fmla="*/ 68 h 68"/>
              <a:gd name="T36" fmla="*/ 55 w 55"/>
              <a:gd name="T37" fmla="*/ 68 h 68"/>
              <a:gd name="T38" fmla="*/ 55 w 55"/>
              <a:gd name="T39" fmla="*/ 67 h 68"/>
              <a:gd name="T40" fmla="*/ 5 w 55"/>
              <a:gd name="T41" fmla="*/ 8 h 68"/>
              <a:gd name="T42" fmla="*/ 9 w 55"/>
              <a:gd name="T43" fmla="*/ 5 h 68"/>
              <a:gd name="T44" fmla="*/ 17 w 55"/>
              <a:gd name="T45" fmla="*/ 6 h 68"/>
              <a:gd name="T46" fmla="*/ 5 w 55"/>
              <a:gd name="T47" fmla="*/ 16 h 68"/>
              <a:gd name="T48" fmla="*/ 5 w 55"/>
              <a:gd name="T49" fmla="*/ 8 h 68"/>
              <a:gd name="T50" fmla="*/ 6 w 55"/>
              <a:gd name="T51" fmla="*/ 18 h 68"/>
              <a:gd name="T52" fmla="*/ 18 w 55"/>
              <a:gd name="T53" fmla="*/ 8 h 68"/>
              <a:gd name="T54" fmla="*/ 39 w 55"/>
              <a:gd name="T55" fmla="*/ 35 h 68"/>
              <a:gd name="T56" fmla="*/ 27 w 55"/>
              <a:gd name="T57" fmla="*/ 45 h 68"/>
              <a:gd name="T58" fmla="*/ 6 w 55"/>
              <a:gd name="T59" fmla="*/ 18 h 68"/>
              <a:gd name="T60" fmla="*/ 28 w 55"/>
              <a:gd name="T61" fmla="*/ 47 h 68"/>
              <a:gd name="T62" fmla="*/ 41 w 55"/>
              <a:gd name="T63" fmla="*/ 37 h 68"/>
              <a:gd name="T64" fmla="*/ 48 w 55"/>
              <a:gd name="T65" fmla="*/ 47 h 68"/>
              <a:gd name="T66" fmla="*/ 36 w 55"/>
              <a:gd name="T67" fmla="*/ 57 h 68"/>
              <a:gd name="T68" fmla="*/ 28 w 55"/>
              <a:gd name="T69" fmla="*/ 47 h 68"/>
              <a:gd name="T70" fmla="*/ 38 w 55"/>
              <a:gd name="T71" fmla="*/ 58 h 68"/>
              <a:gd name="T72" fmla="*/ 49 w 55"/>
              <a:gd name="T73" fmla="*/ 49 h 68"/>
              <a:gd name="T74" fmla="*/ 52 w 55"/>
              <a:gd name="T75" fmla="*/ 65 h 68"/>
              <a:gd name="T76" fmla="*/ 38 w 55"/>
              <a:gd name="T77" fmla="*/ 5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 h="68">
                <a:moveTo>
                  <a:pt x="55" y="67"/>
                </a:moveTo>
                <a:cubicBezTo>
                  <a:pt x="51" y="47"/>
                  <a:pt x="51" y="47"/>
                  <a:pt x="51" y="47"/>
                </a:cubicBezTo>
                <a:cubicBezTo>
                  <a:pt x="51" y="47"/>
                  <a:pt x="51" y="47"/>
                  <a:pt x="51" y="47"/>
                </a:cubicBezTo>
                <a:cubicBezTo>
                  <a:pt x="51" y="47"/>
                  <a:pt x="51" y="47"/>
                  <a:pt x="51" y="47"/>
                </a:cubicBezTo>
                <a:cubicBezTo>
                  <a:pt x="51" y="47"/>
                  <a:pt x="51" y="47"/>
                  <a:pt x="51" y="47"/>
                </a:cubicBezTo>
                <a:cubicBezTo>
                  <a:pt x="51" y="47"/>
                  <a:pt x="51" y="47"/>
                  <a:pt x="51" y="47"/>
                </a:cubicBezTo>
                <a:cubicBezTo>
                  <a:pt x="19" y="6"/>
                  <a:pt x="19" y="6"/>
                  <a:pt x="19" y="6"/>
                </a:cubicBezTo>
                <a:cubicBezTo>
                  <a:pt x="19" y="6"/>
                  <a:pt x="19" y="6"/>
                  <a:pt x="19" y="6"/>
                </a:cubicBezTo>
                <a:cubicBezTo>
                  <a:pt x="16" y="2"/>
                  <a:pt x="11" y="0"/>
                  <a:pt x="8" y="3"/>
                </a:cubicBezTo>
                <a:cubicBezTo>
                  <a:pt x="4" y="6"/>
                  <a:pt x="4" y="6"/>
                  <a:pt x="4" y="6"/>
                </a:cubicBezTo>
                <a:cubicBezTo>
                  <a:pt x="0" y="9"/>
                  <a:pt x="0" y="14"/>
                  <a:pt x="3" y="18"/>
                </a:cubicBezTo>
                <a:cubicBezTo>
                  <a:pt x="35" y="59"/>
                  <a:pt x="35" y="59"/>
                  <a:pt x="35" y="59"/>
                </a:cubicBezTo>
                <a:cubicBezTo>
                  <a:pt x="35" y="59"/>
                  <a:pt x="35" y="59"/>
                  <a:pt x="35" y="59"/>
                </a:cubicBezTo>
                <a:cubicBezTo>
                  <a:pt x="35" y="59"/>
                  <a:pt x="35" y="59"/>
                  <a:pt x="35" y="59"/>
                </a:cubicBezTo>
                <a:cubicBezTo>
                  <a:pt x="35" y="59"/>
                  <a:pt x="35" y="59"/>
                  <a:pt x="35" y="59"/>
                </a:cubicBezTo>
                <a:cubicBezTo>
                  <a:pt x="35" y="59"/>
                  <a:pt x="35" y="59"/>
                  <a:pt x="35" y="59"/>
                </a:cubicBezTo>
                <a:cubicBezTo>
                  <a:pt x="53" y="68"/>
                  <a:pt x="53" y="68"/>
                  <a:pt x="53" y="68"/>
                </a:cubicBezTo>
                <a:cubicBezTo>
                  <a:pt x="53" y="68"/>
                  <a:pt x="54" y="68"/>
                  <a:pt x="54" y="68"/>
                </a:cubicBezTo>
                <a:cubicBezTo>
                  <a:pt x="54" y="68"/>
                  <a:pt x="54" y="68"/>
                  <a:pt x="55" y="68"/>
                </a:cubicBezTo>
                <a:cubicBezTo>
                  <a:pt x="55" y="68"/>
                  <a:pt x="55" y="67"/>
                  <a:pt x="55" y="67"/>
                </a:cubicBezTo>
                <a:close/>
                <a:moveTo>
                  <a:pt x="5" y="8"/>
                </a:moveTo>
                <a:cubicBezTo>
                  <a:pt x="9" y="5"/>
                  <a:pt x="9" y="5"/>
                  <a:pt x="9" y="5"/>
                </a:cubicBezTo>
                <a:cubicBezTo>
                  <a:pt x="11" y="3"/>
                  <a:pt x="14" y="4"/>
                  <a:pt x="17" y="6"/>
                </a:cubicBezTo>
                <a:cubicBezTo>
                  <a:pt x="5" y="16"/>
                  <a:pt x="5" y="16"/>
                  <a:pt x="5" y="16"/>
                </a:cubicBezTo>
                <a:cubicBezTo>
                  <a:pt x="3" y="13"/>
                  <a:pt x="3" y="9"/>
                  <a:pt x="5" y="8"/>
                </a:cubicBezTo>
                <a:close/>
                <a:moveTo>
                  <a:pt x="6" y="18"/>
                </a:moveTo>
                <a:cubicBezTo>
                  <a:pt x="18" y="8"/>
                  <a:pt x="18" y="8"/>
                  <a:pt x="18" y="8"/>
                </a:cubicBezTo>
                <a:cubicBezTo>
                  <a:pt x="39" y="35"/>
                  <a:pt x="39" y="35"/>
                  <a:pt x="39" y="35"/>
                </a:cubicBezTo>
                <a:cubicBezTo>
                  <a:pt x="27" y="45"/>
                  <a:pt x="27" y="45"/>
                  <a:pt x="27" y="45"/>
                </a:cubicBezTo>
                <a:lnTo>
                  <a:pt x="6" y="18"/>
                </a:lnTo>
                <a:close/>
                <a:moveTo>
                  <a:pt x="28" y="47"/>
                </a:moveTo>
                <a:cubicBezTo>
                  <a:pt x="41" y="37"/>
                  <a:pt x="41" y="37"/>
                  <a:pt x="41" y="37"/>
                </a:cubicBezTo>
                <a:cubicBezTo>
                  <a:pt x="48" y="47"/>
                  <a:pt x="48" y="47"/>
                  <a:pt x="48" y="47"/>
                </a:cubicBezTo>
                <a:cubicBezTo>
                  <a:pt x="36" y="57"/>
                  <a:pt x="36" y="57"/>
                  <a:pt x="36" y="57"/>
                </a:cubicBezTo>
                <a:lnTo>
                  <a:pt x="28" y="47"/>
                </a:lnTo>
                <a:close/>
                <a:moveTo>
                  <a:pt x="38" y="58"/>
                </a:moveTo>
                <a:cubicBezTo>
                  <a:pt x="49" y="49"/>
                  <a:pt x="49" y="49"/>
                  <a:pt x="49" y="49"/>
                </a:cubicBezTo>
                <a:cubicBezTo>
                  <a:pt x="52" y="65"/>
                  <a:pt x="52" y="65"/>
                  <a:pt x="52" y="65"/>
                </a:cubicBezTo>
                <a:lnTo>
                  <a:pt x="38"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5" name="Freeform 11"/>
          <p:cNvSpPr>
            <a:spLocks noEditPoints="1"/>
          </p:cNvSpPr>
          <p:nvPr userDrawn="1"/>
        </p:nvSpPr>
        <p:spPr bwMode="auto">
          <a:xfrm>
            <a:off x="18267314" y="2725833"/>
            <a:ext cx="646417" cy="801166"/>
          </a:xfrm>
          <a:custGeom>
            <a:avLst/>
            <a:gdLst>
              <a:gd name="T0" fmla="*/ 55 w 55"/>
              <a:gd name="T1" fmla="*/ 67 h 68"/>
              <a:gd name="T2" fmla="*/ 51 w 55"/>
              <a:gd name="T3" fmla="*/ 47 h 68"/>
              <a:gd name="T4" fmla="*/ 51 w 55"/>
              <a:gd name="T5" fmla="*/ 47 h 68"/>
              <a:gd name="T6" fmla="*/ 51 w 55"/>
              <a:gd name="T7" fmla="*/ 47 h 68"/>
              <a:gd name="T8" fmla="*/ 51 w 55"/>
              <a:gd name="T9" fmla="*/ 47 h 68"/>
              <a:gd name="T10" fmla="*/ 51 w 55"/>
              <a:gd name="T11" fmla="*/ 47 h 68"/>
              <a:gd name="T12" fmla="*/ 19 w 55"/>
              <a:gd name="T13" fmla="*/ 6 h 68"/>
              <a:gd name="T14" fmla="*/ 19 w 55"/>
              <a:gd name="T15" fmla="*/ 6 h 68"/>
              <a:gd name="T16" fmla="*/ 8 w 55"/>
              <a:gd name="T17" fmla="*/ 3 h 68"/>
              <a:gd name="T18" fmla="*/ 4 w 55"/>
              <a:gd name="T19" fmla="*/ 6 h 68"/>
              <a:gd name="T20" fmla="*/ 3 w 55"/>
              <a:gd name="T21" fmla="*/ 18 h 68"/>
              <a:gd name="T22" fmla="*/ 35 w 55"/>
              <a:gd name="T23" fmla="*/ 59 h 68"/>
              <a:gd name="T24" fmla="*/ 35 w 55"/>
              <a:gd name="T25" fmla="*/ 59 h 68"/>
              <a:gd name="T26" fmla="*/ 35 w 55"/>
              <a:gd name="T27" fmla="*/ 59 h 68"/>
              <a:gd name="T28" fmla="*/ 35 w 55"/>
              <a:gd name="T29" fmla="*/ 59 h 68"/>
              <a:gd name="T30" fmla="*/ 35 w 55"/>
              <a:gd name="T31" fmla="*/ 59 h 68"/>
              <a:gd name="T32" fmla="*/ 53 w 55"/>
              <a:gd name="T33" fmla="*/ 68 h 68"/>
              <a:gd name="T34" fmla="*/ 54 w 55"/>
              <a:gd name="T35" fmla="*/ 68 h 68"/>
              <a:gd name="T36" fmla="*/ 55 w 55"/>
              <a:gd name="T37" fmla="*/ 68 h 68"/>
              <a:gd name="T38" fmla="*/ 55 w 55"/>
              <a:gd name="T39" fmla="*/ 67 h 68"/>
              <a:gd name="T40" fmla="*/ 5 w 55"/>
              <a:gd name="T41" fmla="*/ 8 h 68"/>
              <a:gd name="T42" fmla="*/ 9 w 55"/>
              <a:gd name="T43" fmla="*/ 5 h 68"/>
              <a:gd name="T44" fmla="*/ 17 w 55"/>
              <a:gd name="T45" fmla="*/ 6 h 68"/>
              <a:gd name="T46" fmla="*/ 5 w 55"/>
              <a:gd name="T47" fmla="*/ 16 h 68"/>
              <a:gd name="T48" fmla="*/ 5 w 55"/>
              <a:gd name="T49" fmla="*/ 8 h 68"/>
              <a:gd name="T50" fmla="*/ 6 w 55"/>
              <a:gd name="T51" fmla="*/ 18 h 68"/>
              <a:gd name="T52" fmla="*/ 18 w 55"/>
              <a:gd name="T53" fmla="*/ 8 h 68"/>
              <a:gd name="T54" fmla="*/ 39 w 55"/>
              <a:gd name="T55" fmla="*/ 35 h 68"/>
              <a:gd name="T56" fmla="*/ 27 w 55"/>
              <a:gd name="T57" fmla="*/ 45 h 68"/>
              <a:gd name="T58" fmla="*/ 6 w 55"/>
              <a:gd name="T59" fmla="*/ 18 h 68"/>
              <a:gd name="T60" fmla="*/ 28 w 55"/>
              <a:gd name="T61" fmla="*/ 47 h 68"/>
              <a:gd name="T62" fmla="*/ 41 w 55"/>
              <a:gd name="T63" fmla="*/ 37 h 68"/>
              <a:gd name="T64" fmla="*/ 48 w 55"/>
              <a:gd name="T65" fmla="*/ 47 h 68"/>
              <a:gd name="T66" fmla="*/ 36 w 55"/>
              <a:gd name="T67" fmla="*/ 57 h 68"/>
              <a:gd name="T68" fmla="*/ 28 w 55"/>
              <a:gd name="T69" fmla="*/ 47 h 68"/>
              <a:gd name="T70" fmla="*/ 38 w 55"/>
              <a:gd name="T71" fmla="*/ 58 h 68"/>
              <a:gd name="T72" fmla="*/ 49 w 55"/>
              <a:gd name="T73" fmla="*/ 49 h 68"/>
              <a:gd name="T74" fmla="*/ 52 w 55"/>
              <a:gd name="T75" fmla="*/ 65 h 68"/>
              <a:gd name="T76" fmla="*/ 38 w 55"/>
              <a:gd name="T77" fmla="*/ 5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 h="68">
                <a:moveTo>
                  <a:pt x="55" y="67"/>
                </a:moveTo>
                <a:cubicBezTo>
                  <a:pt x="51" y="47"/>
                  <a:pt x="51" y="47"/>
                  <a:pt x="51" y="47"/>
                </a:cubicBezTo>
                <a:cubicBezTo>
                  <a:pt x="51" y="47"/>
                  <a:pt x="51" y="47"/>
                  <a:pt x="51" y="47"/>
                </a:cubicBezTo>
                <a:cubicBezTo>
                  <a:pt x="51" y="47"/>
                  <a:pt x="51" y="47"/>
                  <a:pt x="51" y="47"/>
                </a:cubicBezTo>
                <a:cubicBezTo>
                  <a:pt x="51" y="47"/>
                  <a:pt x="51" y="47"/>
                  <a:pt x="51" y="47"/>
                </a:cubicBezTo>
                <a:cubicBezTo>
                  <a:pt x="51" y="47"/>
                  <a:pt x="51" y="47"/>
                  <a:pt x="51" y="47"/>
                </a:cubicBezTo>
                <a:cubicBezTo>
                  <a:pt x="19" y="6"/>
                  <a:pt x="19" y="6"/>
                  <a:pt x="19" y="6"/>
                </a:cubicBezTo>
                <a:cubicBezTo>
                  <a:pt x="19" y="6"/>
                  <a:pt x="19" y="6"/>
                  <a:pt x="19" y="6"/>
                </a:cubicBezTo>
                <a:cubicBezTo>
                  <a:pt x="16" y="2"/>
                  <a:pt x="11" y="0"/>
                  <a:pt x="8" y="3"/>
                </a:cubicBezTo>
                <a:cubicBezTo>
                  <a:pt x="4" y="6"/>
                  <a:pt x="4" y="6"/>
                  <a:pt x="4" y="6"/>
                </a:cubicBezTo>
                <a:cubicBezTo>
                  <a:pt x="0" y="9"/>
                  <a:pt x="0" y="14"/>
                  <a:pt x="3" y="18"/>
                </a:cubicBezTo>
                <a:cubicBezTo>
                  <a:pt x="35" y="59"/>
                  <a:pt x="35" y="59"/>
                  <a:pt x="35" y="59"/>
                </a:cubicBezTo>
                <a:cubicBezTo>
                  <a:pt x="35" y="59"/>
                  <a:pt x="35" y="59"/>
                  <a:pt x="35" y="59"/>
                </a:cubicBezTo>
                <a:cubicBezTo>
                  <a:pt x="35" y="59"/>
                  <a:pt x="35" y="59"/>
                  <a:pt x="35" y="59"/>
                </a:cubicBezTo>
                <a:cubicBezTo>
                  <a:pt x="35" y="59"/>
                  <a:pt x="35" y="59"/>
                  <a:pt x="35" y="59"/>
                </a:cubicBezTo>
                <a:cubicBezTo>
                  <a:pt x="35" y="59"/>
                  <a:pt x="35" y="59"/>
                  <a:pt x="35" y="59"/>
                </a:cubicBezTo>
                <a:cubicBezTo>
                  <a:pt x="53" y="68"/>
                  <a:pt x="53" y="68"/>
                  <a:pt x="53" y="68"/>
                </a:cubicBezTo>
                <a:cubicBezTo>
                  <a:pt x="53" y="68"/>
                  <a:pt x="54" y="68"/>
                  <a:pt x="54" y="68"/>
                </a:cubicBezTo>
                <a:cubicBezTo>
                  <a:pt x="54" y="68"/>
                  <a:pt x="54" y="68"/>
                  <a:pt x="55" y="68"/>
                </a:cubicBezTo>
                <a:cubicBezTo>
                  <a:pt x="55" y="68"/>
                  <a:pt x="55" y="67"/>
                  <a:pt x="55" y="67"/>
                </a:cubicBezTo>
                <a:close/>
                <a:moveTo>
                  <a:pt x="5" y="8"/>
                </a:moveTo>
                <a:cubicBezTo>
                  <a:pt x="9" y="5"/>
                  <a:pt x="9" y="5"/>
                  <a:pt x="9" y="5"/>
                </a:cubicBezTo>
                <a:cubicBezTo>
                  <a:pt x="11" y="3"/>
                  <a:pt x="14" y="4"/>
                  <a:pt x="17" y="6"/>
                </a:cubicBezTo>
                <a:cubicBezTo>
                  <a:pt x="5" y="16"/>
                  <a:pt x="5" y="16"/>
                  <a:pt x="5" y="16"/>
                </a:cubicBezTo>
                <a:cubicBezTo>
                  <a:pt x="3" y="13"/>
                  <a:pt x="3" y="9"/>
                  <a:pt x="5" y="8"/>
                </a:cubicBezTo>
                <a:close/>
                <a:moveTo>
                  <a:pt x="6" y="18"/>
                </a:moveTo>
                <a:cubicBezTo>
                  <a:pt x="18" y="8"/>
                  <a:pt x="18" y="8"/>
                  <a:pt x="18" y="8"/>
                </a:cubicBezTo>
                <a:cubicBezTo>
                  <a:pt x="39" y="35"/>
                  <a:pt x="39" y="35"/>
                  <a:pt x="39" y="35"/>
                </a:cubicBezTo>
                <a:cubicBezTo>
                  <a:pt x="27" y="45"/>
                  <a:pt x="27" y="45"/>
                  <a:pt x="27" y="45"/>
                </a:cubicBezTo>
                <a:lnTo>
                  <a:pt x="6" y="18"/>
                </a:lnTo>
                <a:close/>
                <a:moveTo>
                  <a:pt x="28" y="47"/>
                </a:moveTo>
                <a:cubicBezTo>
                  <a:pt x="41" y="37"/>
                  <a:pt x="41" y="37"/>
                  <a:pt x="41" y="37"/>
                </a:cubicBezTo>
                <a:cubicBezTo>
                  <a:pt x="48" y="47"/>
                  <a:pt x="48" y="47"/>
                  <a:pt x="48" y="47"/>
                </a:cubicBezTo>
                <a:cubicBezTo>
                  <a:pt x="36" y="57"/>
                  <a:pt x="36" y="57"/>
                  <a:pt x="36" y="57"/>
                </a:cubicBezTo>
                <a:lnTo>
                  <a:pt x="28" y="47"/>
                </a:lnTo>
                <a:close/>
                <a:moveTo>
                  <a:pt x="38" y="58"/>
                </a:moveTo>
                <a:cubicBezTo>
                  <a:pt x="49" y="49"/>
                  <a:pt x="49" y="49"/>
                  <a:pt x="49" y="49"/>
                </a:cubicBezTo>
                <a:cubicBezTo>
                  <a:pt x="52" y="65"/>
                  <a:pt x="52" y="65"/>
                  <a:pt x="52" y="65"/>
                </a:cubicBezTo>
                <a:lnTo>
                  <a:pt x="38"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6" name="Freeform 11"/>
          <p:cNvSpPr>
            <a:spLocks noEditPoints="1"/>
          </p:cNvSpPr>
          <p:nvPr userDrawn="1"/>
        </p:nvSpPr>
        <p:spPr bwMode="auto">
          <a:xfrm>
            <a:off x="18419714" y="2878233"/>
            <a:ext cx="646417" cy="801166"/>
          </a:xfrm>
          <a:custGeom>
            <a:avLst/>
            <a:gdLst>
              <a:gd name="T0" fmla="*/ 55 w 55"/>
              <a:gd name="T1" fmla="*/ 67 h 68"/>
              <a:gd name="T2" fmla="*/ 51 w 55"/>
              <a:gd name="T3" fmla="*/ 47 h 68"/>
              <a:gd name="T4" fmla="*/ 51 w 55"/>
              <a:gd name="T5" fmla="*/ 47 h 68"/>
              <a:gd name="T6" fmla="*/ 51 w 55"/>
              <a:gd name="T7" fmla="*/ 47 h 68"/>
              <a:gd name="T8" fmla="*/ 51 w 55"/>
              <a:gd name="T9" fmla="*/ 47 h 68"/>
              <a:gd name="T10" fmla="*/ 51 w 55"/>
              <a:gd name="T11" fmla="*/ 47 h 68"/>
              <a:gd name="T12" fmla="*/ 19 w 55"/>
              <a:gd name="T13" fmla="*/ 6 h 68"/>
              <a:gd name="T14" fmla="*/ 19 w 55"/>
              <a:gd name="T15" fmla="*/ 6 h 68"/>
              <a:gd name="T16" fmla="*/ 8 w 55"/>
              <a:gd name="T17" fmla="*/ 3 h 68"/>
              <a:gd name="T18" fmla="*/ 4 w 55"/>
              <a:gd name="T19" fmla="*/ 6 h 68"/>
              <a:gd name="T20" fmla="*/ 3 w 55"/>
              <a:gd name="T21" fmla="*/ 18 h 68"/>
              <a:gd name="T22" fmla="*/ 35 w 55"/>
              <a:gd name="T23" fmla="*/ 59 h 68"/>
              <a:gd name="T24" fmla="*/ 35 w 55"/>
              <a:gd name="T25" fmla="*/ 59 h 68"/>
              <a:gd name="T26" fmla="*/ 35 w 55"/>
              <a:gd name="T27" fmla="*/ 59 h 68"/>
              <a:gd name="T28" fmla="*/ 35 w 55"/>
              <a:gd name="T29" fmla="*/ 59 h 68"/>
              <a:gd name="T30" fmla="*/ 35 w 55"/>
              <a:gd name="T31" fmla="*/ 59 h 68"/>
              <a:gd name="T32" fmla="*/ 53 w 55"/>
              <a:gd name="T33" fmla="*/ 68 h 68"/>
              <a:gd name="T34" fmla="*/ 54 w 55"/>
              <a:gd name="T35" fmla="*/ 68 h 68"/>
              <a:gd name="T36" fmla="*/ 55 w 55"/>
              <a:gd name="T37" fmla="*/ 68 h 68"/>
              <a:gd name="T38" fmla="*/ 55 w 55"/>
              <a:gd name="T39" fmla="*/ 67 h 68"/>
              <a:gd name="T40" fmla="*/ 5 w 55"/>
              <a:gd name="T41" fmla="*/ 8 h 68"/>
              <a:gd name="T42" fmla="*/ 9 w 55"/>
              <a:gd name="T43" fmla="*/ 5 h 68"/>
              <a:gd name="T44" fmla="*/ 17 w 55"/>
              <a:gd name="T45" fmla="*/ 6 h 68"/>
              <a:gd name="T46" fmla="*/ 5 w 55"/>
              <a:gd name="T47" fmla="*/ 16 h 68"/>
              <a:gd name="T48" fmla="*/ 5 w 55"/>
              <a:gd name="T49" fmla="*/ 8 h 68"/>
              <a:gd name="T50" fmla="*/ 6 w 55"/>
              <a:gd name="T51" fmla="*/ 18 h 68"/>
              <a:gd name="T52" fmla="*/ 18 w 55"/>
              <a:gd name="T53" fmla="*/ 8 h 68"/>
              <a:gd name="T54" fmla="*/ 39 w 55"/>
              <a:gd name="T55" fmla="*/ 35 h 68"/>
              <a:gd name="T56" fmla="*/ 27 w 55"/>
              <a:gd name="T57" fmla="*/ 45 h 68"/>
              <a:gd name="T58" fmla="*/ 6 w 55"/>
              <a:gd name="T59" fmla="*/ 18 h 68"/>
              <a:gd name="T60" fmla="*/ 28 w 55"/>
              <a:gd name="T61" fmla="*/ 47 h 68"/>
              <a:gd name="T62" fmla="*/ 41 w 55"/>
              <a:gd name="T63" fmla="*/ 37 h 68"/>
              <a:gd name="T64" fmla="*/ 48 w 55"/>
              <a:gd name="T65" fmla="*/ 47 h 68"/>
              <a:gd name="T66" fmla="*/ 36 w 55"/>
              <a:gd name="T67" fmla="*/ 57 h 68"/>
              <a:gd name="T68" fmla="*/ 28 w 55"/>
              <a:gd name="T69" fmla="*/ 47 h 68"/>
              <a:gd name="T70" fmla="*/ 38 w 55"/>
              <a:gd name="T71" fmla="*/ 58 h 68"/>
              <a:gd name="T72" fmla="*/ 49 w 55"/>
              <a:gd name="T73" fmla="*/ 49 h 68"/>
              <a:gd name="T74" fmla="*/ 52 w 55"/>
              <a:gd name="T75" fmla="*/ 65 h 68"/>
              <a:gd name="T76" fmla="*/ 38 w 55"/>
              <a:gd name="T77" fmla="*/ 5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 h="68">
                <a:moveTo>
                  <a:pt x="55" y="67"/>
                </a:moveTo>
                <a:cubicBezTo>
                  <a:pt x="51" y="47"/>
                  <a:pt x="51" y="47"/>
                  <a:pt x="51" y="47"/>
                </a:cubicBezTo>
                <a:cubicBezTo>
                  <a:pt x="51" y="47"/>
                  <a:pt x="51" y="47"/>
                  <a:pt x="51" y="47"/>
                </a:cubicBezTo>
                <a:cubicBezTo>
                  <a:pt x="51" y="47"/>
                  <a:pt x="51" y="47"/>
                  <a:pt x="51" y="47"/>
                </a:cubicBezTo>
                <a:cubicBezTo>
                  <a:pt x="51" y="47"/>
                  <a:pt x="51" y="47"/>
                  <a:pt x="51" y="47"/>
                </a:cubicBezTo>
                <a:cubicBezTo>
                  <a:pt x="51" y="47"/>
                  <a:pt x="51" y="47"/>
                  <a:pt x="51" y="47"/>
                </a:cubicBezTo>
                <a:cubicBezTo>
                  <a:pt x="19" y="6"/>
                  <a:pt x="19" y="6"/>
                  <a:pt x="19" y="6"/>
                </a:cubicBezTo>
                <a:cubicBezTo>
                  <a:pt x="19" y="6"/>
                  <a:pt x="19" y="6"/>
                  <a:pt x="19" y="6"/>
                </a:cubicBezTo>
                <a:cubicBezTo>
                  <a:pt x="16" y="2"/>
                  <a:pt x="11" y="0"/>
                  <a:pt x="8" y="3"/>
                </a:cubicBezTo>
                <a:cubicBezTo>
                  <a:pt x="4" y="6"/>
                  <a:pt x="4" y="6"/>
                  <a:pt x="4" y="6"/>
                </a:cubicBezTo>
                <a:cubicBezTo>
                  <a:pt x="0" y="9"/>
                  <a:pt x="0" y="14"/>
                  <a:pt x="3" y="18"/>
                </a:cubicBezTo>
                <a:cubicBezTo>
                  <a:pt x="35" y="59"/>
                  <a:pt x="35" y="59"/>
                  <a:pt x="35" y="59"/>
                </a:cubicBezTo>
                <a:cubicBezTo>
                  <a:pt x="35" y="59"/>
                  <a:pt x="35" y="59"/>
                  <a:pt x="35" y="59"/>
                </a:cubicBezTo>
                <a:cubicBezTo>
                  <a:pt x="35" y="59"/>
                  <a:pt x="35" y="59"/>
                  <a:pt x="35" y="59"/>
                </a:cubicBezTo>
                <a:cubicBezTo>
                  <a:pt x="35" y="59"/>
                  <a:pt x="35" y="59"/>
                  <a:pt x="35" y="59"/>
                </a:cubicBezTo>
                <a:cubicBezTo>
                  <a:pt x="35" y="59"/>
                  <a:pt x="35" y="59"/>
                  <a:pt x="35" y="59"/>
                </a:cubicBezTo>
                <a:cubicBezTo>
                  <a:pt x="53" y="68"/>
                  <a:pt x="53" y="68"/>
                  <a:pt x="53" y="68"/>
                </a:cubicBezTo>
                <a:cubicBezTo>
                  <a:pt x="53" y="68"/>
                  <a:pt x="54" y="68"/>
                  <a:pt x="54" y="68"/>
                </a:cubicBezTo>
                <a:cubicBezTo>
                  <a:pt x="54" y="68"/>
                  <a:pt x="54" y="68"/>
                  <a:pt x="55" y="68"/>
                </a:cubicBezTo>
                <a:cubicBezTo>
                  <a:pt x="55" y="68"/>
                  <a:pt x="55" y="67"/>
                  <a:pt x="55" y="67"/>
                </a:cubicBezTo>
                <a:close/>
                <a:moveTo>
                  <a:pt x="5" y="8"/>
                </a:moveTo>
                <a:cubicBezTo>
                  <a:pt x="9" y="5"/>
                  <a:pt x="9" y="5"/>
                  <a:pt x="9" y="5"/>
                </a:cubicBezTo>
                <a:cubicBezTo>
                  <a:pt x="11" y="3"/>
                  <a:pt x="14" y="4"/>
                  <a:pt x="17" y="6"/>
                </a:cubicBezTo>
                <a:cubicBezTo>
                  <a:pt x="5" y="16"/>
                  <a:pt x="5" y="16"/>
                  <a:pt x="5" y="16"/>
                </a:cubicBezTo>
                <a:cubicBezTo>
                  <a:pt x="3" y="13"/>
                  <a:pt x="3" y="9"/>
                  <a:pt x="5" y="8"/>
                </a:cubicBezTo>
                <a:close/>
                <a:moveTo>
                  <a:pt x="6" y="18"/>
                </a:moveTo>
                <a:cubicBezTo>
                  <a:pt x="18" y="8"/>
                  <a:pt x="18" y="8"/>
                  <a:pt x="18" y="8"/>
                </a:cubicBezTo>
                <a:cubicBezTo>
                  <a:pt x="39" y="35"/>
                  <a:pt x="39" y="35"/>
                  <a:pt x="39" y="35"/>
                </a:cubicBezTo>
                <a:cubicBezTo>
                  <a:pt x="27" y="45"/>
                  <a:pt x="27" y="45"/>
                  <a:pt x="27" y="45"/>
                </a:cubicBezTo>
                <a:lnTo>
                  <a:pt x="6" y="18"/>
                </a:lnTo>
                <a:close/>
                <a:moveTo>
                  <a:pt x="28" y="47"/>
                </a:moveTo>
                <a:cubicBezTo>
                  <a:pt x="41" y="37"/>
                  <a:pt x="41" y="37"/>
                  <a:pt x="41" y="37"/>
                </a:cubicBezTo>
                <a:cubicBezTo>
                  <a:pt x="48" y="47"/>
                  <a:pt x="48" y="47"/>
                  <a:pt x="48" y="47"/>
                </a:cubicBezTo>
                <a:cubicBezTo>
                  <a:pt x="36" y="57"/>
                  <a:pt x="36" y="57"/>
                  <a:pt x="36" y="57"/>
                </a:cubicBezTo>
                <a:lnTo>
                  <a:pt x="28" y="47"/>
                </a:lnTo>
                <a:close/>
                <a:moveTo>
                  <a:pt x="38" y="58"/>
                </a:moveTo>
                <a:cubicBezTo>
                  <a:pt x="49" y="49"/>
                  <a:pt x="49" y="49"/>
                  <a:pt x="49" y="49"/>
                </a:cubicBezTo>
                <a:cubicBezTo>
                  <a:pt x="52" y="65"/>
                  <a:pt x="52" y="65"/>
                  <a:pt x="52" y="65"/>
                </a:cubicBezTo>
                <a:lnTo>
                  <a:pt x="38"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7" name="Freeform 11"/>
          <p:cNvSpPr>
            <a:spLocks noEditPoints="1"/>
          </p:cNvSpPr>
          <p:nvPr userDrawn="1"/>
        </p:nvSpPr>
        <p:spPr bwMode="auto">
          <a:xfrm>
            <a:off x="18572114" y="3030633"/>
            <a:ext cx="646417" cy="801166"/>
          </a:xfrm>
          <a:custGeom>
            <a:avLst/>
            <a:gdLst>
              <a:gd name="T0" fmla="*/ 55 w 55"/>
              <a:gd name="T1" fmla="*/ 67 h 68"/>
              <a:gd name="T2" fmla="*/ 51 w 55"/>
              <a:gd name="T3" fmla="*/ 47 h 68"/>
              <a:gd name="T4" fmla="*/ 51 w 55"/>
              <a:gd name="T5" fmla="*/ 47 h 68"/>
              <a:gd name="T6" fmla="*/ 51 w 55"/>
              <a:gd name="T7" fmla="*/ 47 h 68"/>
              <a:gd name="T8" fmla="*/ 51 w 55"/>
              <a:gd name="T9" fmla="*/ 47 h 68"/>
              <a:gd name="T10" fmla="*/ 51 w 55"/>
              <a:gd name="T11" fmla="*/ 47 h 68"/>
              <a:gd name="T12" fmla="*/ 19 w 55"/>
              <a:gd name="T13" fmla="*/ 6 h 68"/>
              <a:gd name="T14" fmla="*/ 19 w 55"/>
              <a:gd name="T15" fmla="*/ 6 h 68"/>
              <a:gd name="T16" fmla="*/ 8 w 55"/>
              <a:gd name="T17" fmla="*/ 3 h 68"/>
              <a:gd name="T18" fmla="*/ 4 w 55"/>
              <a:gd name="T19" fmla="*/ 6 h 68"/>
              <a:gd name="T20" fmla="*/ 3 w 55"/>
              <a:gd name="T21" fmla="*/ 18 h 68"/>
              <a:gd name="T22" fmla="*/ 35 w 55"/>
              <a:gd name="T23" fmla="*/ 59 h 68"/>
              <a:gd name="T24" fmla="*/ 35 w 55"/>
              <a:gd name="T25" fmla="*/ 59 h 68"/>
              <a:gd name="T26" fmla="*/ 35 w 55"/>
              <a:gd name="T27" fmla="*/ 59 h 68"/>
              <a:gd name="T28" fmla="*/ 35 w 55"/>
              <a:gd name="T29" fmla="*/ 59 h 68"/>
              <a:gd name="T30" fmla="*/ 35 w 55"/>
              <a:gd name="T31" fmla="*/ 59 h 68"/>
              <a:gd name="T32" fmla="*/ 53 w 55"/>
              <a:gd name="T33" fmla="*/ 68 h 68"/>
              <a:gd name="T34" fmla="*/ 54 w 55"/>
              <a:gd name="T35" fmla="*/ 68 h 68"/>
              <a:gd name="T36" fmla="*/ 55 w 55"/>
              <a:gd name="T37" fmla="*/ 68 h 68"/>
              <a:gd name="T38" fmla="*/ 55 w 55"/>
              <a:gd name="T39" fmla="*/ 67 h 68"/>
              <a:gd name="T40" fmla="*/ 5 w 55"/>
              <a:gd name="T41" fmla="*/ 8 h 68"/>
              <a:gd name="T42" fmla="*/ 9 w 55"/>
              <a:gd name="T43" fmla="*/ 5 h 68"/>
              <a:gd name="T44" fmla="*/ 17 w 55"/>
              <a:gd name="T45" fmla="*/ 6 h 68"/>
              <a:gd name="T46" fmla="*/ 5 w 55"/>
              <a:gd name="T47" fmla="*/ 16 h 68"/>
              <a:gd name="T48" fmla="*/ 5 w 55"/>
              <a:gd name="T49" fmla="*/ 8 h 68"/>
              <a:gd name="T50" fmla="*/ 6 w 55"/>
              <a:gd name="T51" fmla="*/ 18 h 68"/>
              <a:gd name="T52" fmla="*/ 18 w 55"/>
              <a:gd name="T53" fmla="*/ 8 h 68"/>
              <a:gd name="T54" fmla="*/ 39 w 55"/>
              <a:gd name="T55" fmla="*/ 35 h 68"/>
              <a:gd name="T56" fmla="*/ 27 w 55"/>
              <a:gd name="T57" fmla="*/ 45 h 68"/>
              <a:gd name="T58" fmla="*/ 6 w 55"/>
              <a:gd name="T59" fmla="*/ 18 h 68"/>
              <a:gd name="T60" fmla="*/ 28 w 55"/>
              <a:gd name="T61" fmla="*/ 47 h 68"/>
              <a:gd name="T62" fmla="*/ 41 w 55"/>
              <a:gd name="T63" fmla="*/ 37 h 68"/>
              <a:gd name="T64" fmla="*/ 48 w 55"/>
              <a:gd name="T65" fmla="*/ 47 h 68"/>
              <a:gd name="T66" fmla="*/ 36 w 55"/>
              <a:gd name="T67" fmla="*/ 57 h 68"/>
              <a:gd name="T68" fmla="*/ 28 w 55"/>
              <a:gd name="T69" fmla="*/ 47 h 68"/>
              <a:gd name="T70" fmla="*/ 38 w 55"/>
              <a:gd name="T71" fmla="*/ 58 h 68"/>
              <a:gd name="T72" fmla="*/ 49 w 55"/>
              <a:gd name="T73" fmla="*/ 49 h 68"/>
              <a:gd name="T74" fmla="*/ 52 w 55"/>
              <a:gd name="T75" fmla="*/ 65 h 68"/>
              <a:gd name="T76" fmla="*/ 38 w 55"/>
              <a:gd name="T77" fmla="*/ 5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 h="68">
                <a:moveTo>
                  <a:pt x="55" y="67"/>
                </a:moveTo>
                <a:cubicBezTo>
                  <a:pt x="51" y="47"/>
                  <a:pt x="51" y="47"/>
                  <a:pt x="51" y="47"/>
                </a:cubicBezTo>
                <a:cubicBezTo>
                  <a:pt x="51" y="47"/>
                  <a:pt x="51" y="47"/>
                  <a:pt x="51" y="47"/>
                </a:cubicBezTo>
                <a:cubicBezTo>
                  <a:pt x="51" y="47"/>
                  <a:pt x="51" y="47"/>
                  <a:pt x="51" y="47"/>
                </a:cubicBezTo>
                <a:cubicBezTo>
                  <a:pt x="51" y="47"/>
                  <a:pt x="51" y="47"/>
                  <a:pt x="51" y="47"/>
                </a:cubicBezTo>
                <a:cubicBezTo>
                  <a:pt x="51" y="47"/>
                  <a:pt x="51" y="47"/>
                  <a:pt x="51" y="47"/>
                </a:cubicBezTo>
                <a:cubicBezTo>
                  <a:pt x="19" y="6"/>
                  <a:pt x="19" y="6"/>
                  <a:pt x="19" y="6"/>
                </a:cubicBezTo>
                <a:cubicBezTo>
                  <a:pt x="19" y="6"/>
                  <a:pt x="19" y="6"/>
                  <a:pt x="19" y="6"/>
                </a:cubicBezTo>
                <a:cubicBezTo>
                  <a:pt x="16" y="2"/>
                  <a:pt x="11" y="0"/>
                  <a:pt x="8" y="3"/>
                </a:cubicBezTo>
                <a:cubicBezTo>
                  <a:pt x="4" y="6"/>
                  <a:pt x="4" y="6"/>
                  <a:pt x="4" y="6"/>
                </a:cubicBezTo>
                <a:cubicBezTo>
                  <a:pt x="0" y="9"/>
                  <a:pt x="0" y="14"/>
                  <a:pt x="3" y="18"/>
                </a:cubicBezTo>
                <a:cubicBezTo>
                  <a:pt x="35" y="59"/>
                  <a:pt x="35" y="59"/>
                  <a:pt x="35" y="59"/>
                </a:cubicBezTo>
                <a:cubicBezTo>
                  <a:pt x="35" y="59"/>
                  <a:pt x="35" y="59"/>
                  <a:pt x="35" y="59"/>
                </a:cubicBezTo>
                <a:cubicBezTo>
                  <a:pt x="35" y="59"/>
                  <a:pt x="35" y="59"/>
                  <a:pt x="35" y="59"/>
                </a:cubicBezTo>
                <a:cubicBezTo>
                  <a:pt x="35" y="59"/>
                  <a:pt x="35" y="59"/>
                  <a:pt x="35" y="59"/>
                </a:cubicBezTo>
                <a:cubicBezTo>
                  <a:pt x="35" y="59"/>
                  <a:pt x="35" y="59"/>
                  <a:pt x="35" y="59"/>
                </a:cubicBezTo>
                <a:cubicBezTo>
                  <a:pt x="53" y="68"/>
                  <a:pt x="53" y="68"/>
                  <a:pt x="53" y="68"/>
                </a:cubicBezTo>
                <a:cubicBezTo>
                  <a:pt x="53" y="68"/>
                  <a:pt x="54" y="68"/>
                  <a:pt x="54" y="68"/>
                </a:cubicBezTo>
                <a:cubicBezTo>
                  <a:pt x="54" y="68"/>
                  <a:pt x="54" y="68"/>
                  <a:pt x="55" y="68"/>
                </a:cubicBezTo>
                <a:cubicBezTo>
                  <a:pt x="55" y="68"/>
                  <a:pt x="55" y="67"/>
                  <a:pt x="55" y="67"/>
                </a:cubicBezTo>
                <a:close/>
                <a:moveTo>
                  <a:pt x="5" y="8"/>
                </a:moveTo>
                <a:cubicBezTo>
                  <a:pt x="9" y="5"/>
                  <a:pt x="9" y="5"/>
                  <a:pt x="9" y="5"/>
                </a:cubicBezTo>
                <a:cubicBezTo>
                  <a:pt x="11" y="3"/>
                  <a:pt x="14" y="4"/>
                  <a:pt x="17" y="6"/>
                </a:cubicBezTo>
                <a:cubicBezTo>
                  <a:pt x="5" y="16"/>
                  <a:pt x="5" y="16"/>
                  <a:pt x="5" y="16"/>
                </a:cubicBezTo>
                <a:cubicBezTo>
                  <a:pt x="3" y="13"/>
                  <a:pt x="3" y="9"/>
                  <a:pt x="5" y="8"/>
                </a:cubicBezTo>
                <a:close/>
                <a:moveTo>
                  <a:pt x="6" y="18"/>
                </a:moveTo>
                <a:cubicBezTo>
                  <a:pt x="18" y="8"/>
                  <a:pt x="18" y="8"/>
                  <a:pt x="18" y="8"/>
                </a:cubicBezTo>
                <a:cubicBezTo>
                  <a:pt x="39" y="35"/>
                  <a:pt x="39" y="35"/>
                  <a:pt x="39" y="35"/>
                </a:cubicBezTo>
                <a:cubicBezTo>
                  <a:pt x="27" y="45"/>
                  <a:pt x="27" y="45"/>
                  <a:pt x="27" y="45"/>
                </a:cubicBezTo>
                <a:lnTo>
                  <a:pt x="6" y="18"/>
                </a:lnTo>
                <a:close/>
                <a:moveTo>
                  <a:pt x="28" y="47"/>
                </a:moveTo>
                <a:cubicBezTo>
                  <a:pt x="41" y="37"/>
                  <a:pt x="41" y="37"/>
                  <a:pt x="41" y="37"/>
                </a:cubicBezTo>
                <a:cubicBezTo>
                  <a:pt x="48" y="47"/>
                  <a:pt x="48" y="47"/>
                  <a:pt x="48" y="47"/>
                </a:cubicBezTo>
                <a:cubicBezTo>
                  <a:pt x="36" y="57"/>
                  <a:pt x="36" y="57"/>
                  <a:pt x="36" y="57"/>
                </a:cubicBezTo>
                <a:lnTo>
                  <a:pt x="28" y="47"/>
                </a:lnTo>
                <a:close/>
                <a:moveTo>
                  <a:pt x="38" y="58"/>
                </a:moveTo>
                <a:cubicBezTo>
                  <a:pt x="49" y="49"/>
                  <a:pt x="49" y="49"/>
                  <a:pt x="49" y="49"/>
                </a:cubicBezTo>
                <a:cubicBezTo>
                  <a:pt x="52" y="65"/>
                  <a:pt x="52" y="65"/>
                  <a:pt x="52" y="65"/>
                </a:cubicBezTo>
                <a:lnTo>
                  <a:pt x="38" y="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1" name="Text Placeholder 23"/>
          <p:cNvSpPr>
            <a:spLocks noGrp="1"/>
          </p:cNvSpPr>
          <p:nvPr>
            <p:ph type="body" sz="quarter" idx="11"/>
          </p:nvPr>
        </p:nvSpPr>
        <p:spPr>
          <a:xfrm>
            <a:off x="1415538" y="395211"/>
            <a:ext cx="5659437" cy="671512"/>
          </a:xfrm>
        </p:spPr>
        <p:txBody>
          <a:bodyPr/>
          <a:lstStyle>
            <a:lvl1pPr marL="0" indent="0">
              <a:buNone/>
              <a:defRPr/>
            </a:lvl1pPr>
          </a:lstStyle>
          <a:p>
            <a:pPr lvl="0"/>
            <a:r>
              <a:rPr lang="en-US" dirty="0"/>
              <a:t>Edit Master text styles</a:t>
            </a:r>
          </a:p>
        </p:txBody>
      </p:sp>
      <p:sp>
        <p:nvSpPr>
          <p:cNvPr id="14" name="Rectangle 13">
            <a:extLst>
              <a:ext uri="{FF2B5EF4-FFF2-40B4-BE49-F238E27FC236}">
                <a16:creationId xmlns:a16="http://schemas.microsoft.com/office/drawing/2014/main" id="{8B78A1F1-CBBD-47A1-82EA-1030C26C4705}"/>
              </a:ext>
            </a:extLst>
          </p:cNvPr>
          <p:cNvSpPr/>
          <p:nvPr userDrawn="1"/>
        </p:nvSpPr>
        <p:spPr>
          <a:xfrm>
            <a:off x="0" y="395211"/>
            <a:ext cx="1304389" cy="671512"/>
          </a:xfrm>
          <a:prstGeom prst="rect">
            <a:avLst/>
          </a:prstGeom>
          <a:solidFill>
            <a:srgbClr val="FF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FDE2CF"/>
              </a:solidFill>
            </a:endParaRPr>
          </a:p>
        </p:txBody>
      </p:sp>
      <p:sp>
        <p:nvSpPr>
          <p:cNvPr id="15" name="Rectangle 14">
            <a:extLst>
              <a:ext uri="{FF2B5EF4-FFF2-40B4-BE49-F238E27FC236}">
                <a16:creationId xmlns:a16="http://schemas.microsoft.com/office/drawing/2014/main" id="{1C25E78E-99E2-4F3C-A2D5-1E24ABBD1D9F}"/>
              </a:ext>
            </a:extLst>
          </p:cNvPr>
          <p:cNvSpPr/>
          <p:nvPr userDrawn="1"/>
        </p:nvSpPr>
        <p:spPr>
          <a:xfrm>
            <a:off x="9199418" y="6454206"/>
            <a:ext cx="2992582" cy="166254"/>
          </a:xfrm>
          <a:prstGeom prst="rect">
            <a:avLst/>
          </a:prstGeom>
          <a:solidFill>
            <a:srgbClr val="001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p:cNvSpPr/>
          <p:nvPr userDrawn="1"/>
        </p:nvSpPr>
        <p:spPr>
          <a:xfrm>
            <a:off x="8918917" y="6454206"/>
            <a:ext cx="168812" cy="180999"/>
          </a:xfrm>
          <a:prstGeom prst="ellipse">
            <a:avLst/>
          </a:prstGeom>
          <a:solidFill>
            <a:srgbClr val="FF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28136" y="395211"/>
            <a:ext cx="168812" cy="671512"/>
          </a:xfrm>
          <a:prstGeom prst="rect">
            <a:avLst/>
          </a:prstGeom>
          <a:solidFill>
            <a:srgbClr val="001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up of a logo&#10;&#10;Description automatically generated">
            <a:extLst>
              <a:ext uri="{FF2B5EF4-FFF2-40B4-BE49-F238E27FC236}">
                <a16:creationId xmlns:a16="http://schemas.microsoft.com/office/drawing/2014/main" id="{819438B3-0FF5-A4AB-61AA-82614CE7E1A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76182" y="237541"/>
            <a:ext cx="2348458" cy="671512"/>
          </a:xfrm>
          <a:prstGeom prst="rect">
            <a:avLst/>
          </a:prstGeom>
        </p:spPr>
      </p:pic>
    </p:spTree>
    <p:extLst>
      <p:ext uri="{BB962C8B-B14F-4D97-AF65-F5344CB8AC3E}">
        <p14:creationId xmlns:p14="http://schemas.microsoft.com/office/powerpoint/2010/main" val="4269361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67ABD5-A362-45EF-9987-2C6186739F84}" type="datetimeFigureOut">
              <a:rPr lang="en-IN" smtClean="0"/>
              <a:t>24-08-2024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178BE4-E71A-4AE6-8999-30644C9071D1}" type="slidenum">
              <a:rPr lang="en-IN" smtClean="0"/>
              <a:t>‹#›</a:t>
            </a:fld>
            <a:endParaRPr lang="en-IN"/>
          </a:p>
        </p:txBody>
      </p:sp>
    </p:spTree>
    <p:extLst>
      <p:ext uri="{BB962C8B-B14F-4D97-AF65-F5344CB8AC3E}">
        <p14:creationId xmlns:p14="http://schemas.microsoft.com/office/powerpoint/2010/main" val="3813830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667ABD5-A362-45EF-9987-2C6186739F84}" type="datetimeFigureOut">
              <a:rPr lang="en-IN" smtClean="0"/>
              <a:t>24-08-2024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178BE4-E71A-4AE6-8999-30644C9071D1}" type="slidenum">
              <a:rPr lang="en-IN" smtClean="0"/>
              <a:t>‹#›</a:t>
            </a:fld>
            <a:endParaRPr lang="en-IN"/>
          </a:p>
        </p:txBody>
      </p:sp>
    </p:spTree>
    <p:extLst>
      <p:ext uri="{BB962C8B-B14F-4D97-AF65-F5344CB8AC3E}">
        <p14:creationId xmlns:p14="http://schemas.microsoft.com/office/powerpoint/2010/main" val="3573383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2149270" y="1939171"/>
            <a:ext cx="6288631" cy="2669012"/>
          </a:xfrm>
          <a:prstGeom prst="rect">
            <a:avLst/>
          </a:prstGeom>
        </p:spPr>
      </p:pic>
      <p:sp>
        <p:nvSpPr>
          <p:cNvPr id="7" name="Oval 6">
            <a:extLst>
              <a:ext uri="{FF2B5EF4-FFF2-40B4-BE49-F238E27FC236}">
                <a16:creationId xmlns:a16="http://schemas.microsoft.com/office/drawing/2014/main" id="{E1CE78FF-5A03-42E2-9DBB-94BE38E96550}"/>
              </a:ext>
            </a:extLst>
          </p:cNvPr>
          <p:cNvSpPr/>
          <p:nvPr userDrawn="1"/>
        </p:nvSpPr>
        <p:spPr>
          <a:xfrm>
            <a:off x="8508022" y="1116887"/>
            <a:ext cx="1230923" cy="1225227"/>
          </a:xfrm>
          <a:prstGeom prst="ellipse">
            <a:avLst/>
          </a:prstGeom>
          <a:solidFill>
            <a:srgbClr val="011A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Oval 8">
            <a:extLst>
              <a:ext uri="{FF2B5EF4-FFF2-40B4-BE49-F238E27FC236}">
                <a16:creationId xmlns:a16="http://schemas.microsoft.com/office/drawing/2014/main" id="{EA1919AC-F06D-418B-8EA9-668C91A8783B}"/>
              </a:ext>
            </a:extLst>
          </p:cNvPr>
          <p:cNvSpPr/>
          <p:nvPr userDrawn="1"/>
        </p:nvSpPr>
        <p:spPr>
          <a:xfrm>
            <a:off x="8272095" y="3867042"/>
            <a:ext cx="1230923" cy="1225227"/>
          </a:xfrm>
          <a:prstGeom prst="ellipse">
            <a:avLst/>
          </a:prstGeom>
          <a:solidFill>
            <a:srgbClr val="FFCB0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CC242F"/>
              </a:solidFill>
            </a:endParaRPr>
          </a:p>
        </p:txBody>
      </p:sp>
      <p:sp>
        <p:nvSpPr>
          <p:cNvPr id="12" name="Oval 11">
            <a:extLst>
              <a:ext uri="{FF2B5EF4-FFF2-40B4-BE49-F238E27FC236}">
                <a16:creationId xmlns:a16="http://schemas.microsoft.com/office/drawing/2014/main" id="{695F46D7-3D80-4A16-BE17-55C11CF4CF65}"/>
              </a:ext>
            </a:extLst>
          </p:cNvPr>
          <p:cNvSpPr/>
          <p:nvPr userDrawn="1"/>
        </p:nvSpPr>
        <p:spPr>
          <a:xfrm>
            <a:off x="8651628" y="3015651"/>
            <a:ext cx="471856" cy="469673"/>
          </a:xfrm>
          <a:prstGeom prst="ellipse">
            <a:avLst/>
          </a:prstGeom>
          <a:solidFill>
            <a:srgbClr val="FF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Oval 12">
            <a:extLst>
              <a:ext uri="{FF2B5EF4-FFF2-40B4-BE49-F238E27FC236}">
                <a16:creationId xmlns:a16="http://schemas.microsoft.com/office/drawing/2014/main" id="{21CC0C75-27B9-49DC-A586-FE9CB6793E79}"/>
              </a:ext>
            </a:extLst>
          </p:cNvPr>
          <p:cNvSpPr/>
          <p:nvPr userDrawn="1"/>
        </p:nvSpPr>
        <p:spPr>
          <a:xfrm>
            <a:off x="10682651" y="399540"/>
            <a:ext cx="471856" cy="471856"/>
          </a:xfrm>
          <a:prstGeom prst="ellipse">
            <a:avLst/>
          </a:prstGeom>
          <a:solidFill>
            <a:srgbClr val="FFCB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Oval 14">
            <a:extLst>
              <a:ext uri="{FF2B5EF4-FFF2-40B4-BE49-F238E27FC236}">
                <a16:creationId xmlns:a16="http://schemas.microsoft.com/office/drawing/2014/main" id="{9FC0C3AB-663F-4418-B7BB-78A54BD23B77}"/>
              </a:ext>
            </a:extLst>
          </p:cNvPr>
          <p:cNvSpPr/>
          <p:nvPr userDrawn="1"/>
        </p:nvSpPr>
        <p:spPr>
          <a:xfrm>
            <a:off x="9906000" y="2108581"/>
            <a:ext cx="2286000" cy="2275418"/>
          </a:xfrm>
          <a:prstGeom prst="ellipse">
            <a:avLst/>
          </a:prstGeom>
          <a:solidFill>
            <a:srgbClr val="001A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pic>
        <p:nvPicPr>
          <p:cNvPr id="4" name="Picture 3" descr="A close-up of a logo&#10;&#10;Description automatically generated">
            <a:extLst>
              <a:ext uri="{FF2B5EF4-FFF2-40B4-BE49-F238E27FC236}">
                <a16:creationId xmlns:a16="http://schemas.microsoft.com/office/drawing/2014/main" id="{904E6DCA-7541-F838-3538-0B0C7EAEBF5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87960" y="521635"/>
            <a:ext cx="2546169" cy="728045"/>
          </a:xfrm>
          <a:prstGeom prst="rect">
            <a:avLst/>
          </a:prstGeom>
        </p:spPr>
      </p:pic>
    </p:spTree>
    <p:extLst>
      <p:ext uri="{BB962C8B-B14F-4D97-AF65-F5344CB8AC3E}">
        <p14:creationId xmlns:p14="http://schemas.microsoft.com/office/powerpoint/2010/main" val="4796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667ABD5-A362-45EF-9987-2C6186739F84}" type="datetimeFigureOut">
              <a:rPr lang="en-IN" smtClean="0"/>
              <a:t>24-08-2024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178BE4-E71A-4AE6-8999-30644C9071D1}" type="slidenum">
              <a:rPr lang="en-IN" smtClean="0"/>
              <a:t>‹#›</a:t>
            </a:fld>
            <a:endParaRPr lang="en-IN"/>
          </a:p>
        </p:txBody>
      </p:sp>
    </p:spTree>
    <p:extLst>
      <p:ext uri="{BB962C8B-B14F-4D97-AF65-F5344CB8AC3E}">
        <p14:creationId xmlns:p14="http://schemas.microsoft.com/office/powerpoint/2010/main" val="598120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67ABD5-A362-45EF-9987-2C6186739F84}" type="datetimeFigureOut">
              <a:rPr lang="en-IN" smtClean="0"/>
              <a:t>24-08-2024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78BE4-E71A-4AE6-8999-30644C9071D1}" type="slidenum">
              <a:rPr lang="en-IN" smtClean="0"/>
              <a:t>‹#›</a:t>
            </a:fld>
            <a:endParaRPr lang="en-IN"/>
          </a:p>
        </p:txBody>
      </p:sp>
    </p:spTree>
    <p:extLst>
      <p:ext uri="{BB962C8B-B14F-4D97-AF65-F5344CB8AC3E}">
        <p14:creationId xmlns:p14="http://schemas.microsoft.com/office/powerpoint/2010/main" val="1335900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47198" y="4935983"/>
            <a:ext cx="7029462" cy="230821"/>
          </a:xfrm>
        </p:spPr>
        <p:txBody>
          <a:bodyPr/>
          <a:lstStyle/>
          <a:p>
            <a:r>
              <a:rPr lang="en-US" sz="3200" dirty="0" err="1"/>
              <a:t>Muiltimodal</a:t>
            </a:r>
            <a:r>
              <a:rPr lang="en-US" sz="3200" dirty="0"/>
              <a:t> Hate Speech Detection using Fine-Tuned Llama 2 </a:t>
            </a:r>
            <a:r>
              <a:rPr lang="en-US" sz="3200" dirty="0" smtClean="0"/>
              <a:t>Model</a:t>
            </a:r>
            <a:endParaRPr lang="en-IN" sz="3200" dirty="0"/>
          </a:p>
        </p:txBody>
      </p:sp>
      <p:sp>
        <p:nvSpPr>
          <p:cNvPr id="5" name="TextBox 4">
            <a:extLst>
              <a:ext uri="{FF2B5EF4-FFF2-40B4-BE49-F238E27FC236}">
                <a16:creationId xmlns:a16="http://schemas.microsoft.com/office/drawing/2014/main" id="{58FE67F2-D0B4-4282-87B0-921BD3A25174}"/>
              </a:ext>
            </a:extLst>
          </p:cNvPr>
          <p:cNvSpPr txBox="1"/>
          <p:nvPr/>
        </p:nvSpPr>
        <p:spPr>
          <a:xfrm>
            <a:off x="3192018" y="5756956"/>
            <a:ext cx="8029355" cy="584775"/>
          </a:xfrm>
          <a:prstGeom prst="rect">
            <a:avLst/>
          </a:prstGeom>
          <a:noFill/>
        </p:spPr>
        <p:txBody>
          <a:bodyPr wrap="square" rtlCol="0">
            <a:spAutoFit/>
          </a:bodyPr>
          <a:lstStyle/>
          <a:p>
            <a:pPr marL="342900" indent="-342900">
              <a:buAutoNum type="arabicPeriod"/>
            </a:pPr>
            <a:r>
              <a:rPr lang="en-US" sz="1600" dirty="0" err="1">
                <a:latin typeface="Bahnschrift" panose="020B0502040204020203" pitchFamily="34" charset="0"/>
              </a:rPr>
              <a:t>Keerthana</a:t>
            </a:r>
            <a:r>
              <a:rPr lang="en-US" sz="1600" dirty="0">
                <a:latin typeface="Bahnschrift" panose="020B0502040204020203" pitchFamily="34" charset="0"/>
              </a:rPr>
              <a:t> </a:t>
            </a:r>
            <a:r>
              <a:rPr lang="en-US" sz="1600" dirty="0" err="1" smtClean="0">
                <a:latin typeface="Bahnschrift" panose="020B0502040204020203" pitchFamily="34" charset="0"/>
              </a:rPr>
              <a:t>Sasidaran</a:t>
            </a:r>
            <a:r>
              <a:rPr lang="en-US" sz="1600" dirty="0" smtClean="0">
                <a:latin typeface="Bahnschrift" panose="020B0502040204020203" pitchFamily="34" charset="0"/>
              </a:rPr>
              <a:t>		</a:t>
            </a:r>
            <a:r>
              <a:rPr lang="en-US" sz="1600" dirty="0" err="1" smtClean="0">
                <a:latin typeface="Bahnschrift" panose="020B0502040204020203" pitchFamily="34" charset="0"/>
              </a:rPr>
              <a:t>Ramaiah</a:t>
            </a:r>
            <a:r>
              <a:rPr lang="en-US" sz="1600" dirty="0" smtClean="0">
                <a:latin typeface="Bahnschrift" panose="020B0502040204020203" pitchFamily="34" charset="0"/>
              </a:rPr>
              <a:t> 	Institute of Technology</a:t>
            </a:r>
            <a:endParaRPr lang="en-US" sz="1600" dirty="0">
              <a:latin typeface="Bahnschrift" panose="020B0502040204020203" pitchFamily="34" charset="0"/>
            </a:endParaRPr>
          </a:p>
          <a:p>
            <a:pPr marL="342900" indent="-342900">
              <a:buAutoNum type="arabicPeriod"/>
            </a:pPr>
            <a:r>
              <a:rPr lang="en-US" sz="1600" dirty="0" err="1" smtClean="0">
                <a:latin typeface="Bahnschrift" panose="020B0502040204020203" pitchFamily="34" charset="0"/>
              </a:rPr>
              <a:t>Geetha</a:t>
            </a:r>
            <a:r>
              <a:rPr lang="en-US" sz="1600" dirty="0" smtClean="0">
                <a:latin typeface="Bahnschrift" panose="020B0502040204020203" pitchFamily="34" charset="0"/>
              </a:rPr>
              <a:t> J.			</a:t>
            </a:r>
            <a:r>
              <a:rPr lang="en-US" sz="1600" dirty="0" err="1" smtClean="0">
                <a:latin typeface="Bahnschrift" panose="020B0502040204020203" pitchFamily="34" charset="0"/>
              </a:rPr>
              <a:t>Ramaiah</a:t>
            </a:r>
            <a:r>
              <a:rPr lang="en-US" sz="1600" dirty="0" smtClean="0">
                <a:latin typeface="Bahnschrift" panose="020B0502040204020203" pitchFamily="34" charset="0"/>
              </a:rPr>
              <a:t> 	Institute of Technology</a:t>
            </a:r>
          </a:p>
        </p:txBody>
      </p:sp>
    </p:spTree>
    <p:extLst>
      <p:ext uri="{BB962C8B-B14F-4D97-AF65-F5344CB8AC3E}">
        <p14:creationId xmlns:p14="http://schemas.microsoft.com/office/powerpoint/2010/main" val="21551219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8C3E9FC-77C7-43F4-B2AE-812A2450584B}"/>
              </a:ext>
            </a:extLst>
          </p:cNvPr>
          <p:cNvSpPr txBox="1">
            <a:spLocks/>
          </p:cNvSpPr>
          <p:nvPr/>
        </p:nvSpPr>
        <p:spPr>
          <a:xfrm>
            <a:off x="4404360" y="840477"/>
            <a:ext cx="10528177" cy="49400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b="1" dirty="0">
              <a:latin typeface="Lucida Console" panose="020B0609040504020204" pitchFamily="49" charset="0"/>
            </a:endParaRPr>
          </a:p>
        </p:txBody>
      </p:sp>
      <p:sp>
        <p:nvSpPr>
          <p:cNvPr id="3" name="Rectangle 2"/>
          <p:cNvSpPr/>
          <p:nvPr/>
        </p:nvSpPr>
        <p:spPr>
          <a:xfrm>
            <a:off x="3873081" y="699578"/>
            <a:ext cx="1981200" cy="523220"/>
          </a:xfrm>
          <a:prstGeom prst="rect">
            <a:avLst/>
          </a:prstGeom>
        </p:spPr>
        <p:txBody>
          <a:bodyPr wrap="square">
            <a:spAutoFit/>
          </a:bodyPr>
          <a:lstStyle/>
          <a:p>
            <a:pPr>
              <a:defRPr/>
            </a:pPr>
            <a:r>
              <a:rPr lang="en-US" sz="2800" b="1" dirty="0">
                <a:latin typeface="Bahnschrift SemiBold" panose="020B0502040204020203" pitchFamily="34" charset="0"/>
                <a:ea typeface="Malgun Gothic" panose="020B0503020000020004" pitchFamily="34" charset="-127"/>
              </a:rPr>
              <a:t>Abstract</a:t>
            </a:r>
          </a:p>
        </p:txBody>
      </p:sp>
      <p:sp>
        <p:nvSpPr>
          <p:cNvPr id="6" name="Rectangle 5"/>
          <p:cNvSpPr/>
          <p:nvPr/>
        </p:nvSpPr>
        <p:spPr>
          <a:xfrm>
            <a:off x="3822529" y="1309859"/>
            <a:ext cx="2661920" cy="523220"/>
          </a:xfrm>
          <a:prstGeom prst="rect">
            <a:avLst/>
          </a:prstGeom>
        </p:spPr>
        <p:txBody>
          <a:bodyPr wrap="square">
            <a:spAutoFit/>
          </a:bodyPr>
          <a:lstStyle/>
          <a:p>
            <a:pPr>
              <a:defRPr/>
            </a:pPr>
            <a:r>
              <a:rPr lang="en-US" sz="2800" b="1" dirty="0">
                <a:latin typeface="Bahnschrift SemiBold" panose="020B0502040204020203" pitchFamily="34" charset="0"/>
                <a:ea typeface="Malgun Gothic" panose="020B0503020000020004" pitchFamily="34" charset="-127"/>
              </a:rPr>
              <a:t>Introduction</a:t>
            </a:r>
          </a:p>
        </p:txBody>
      </p:sp>
      <p:sp>
        <p:nvSpPr>
          <p:cNvPr id="7" name="Rectangle 6"/>
          <p:cNvSpPr/>
          <p:nvPr/>
        </p:nvSpPr>
        <p:spPr>
          <a:xfrm>
            <a:off x="3834886" y="1959334"/>
            <a:ext cx="3683730"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Literature Survey</a:t>
            </a:r>
          </a:p>
        </p:txBody>
      </p:sp>
      <p:sp>
        <p:nvSpPr>
          <p:cNvPr id="8" name="Rectangle 7"/>
          <p:cNvSpPr/>
          <p:nvPr/>
        </p:nvSpPr>
        <p:spPr>
          <a:xfrm>
            <a:off x="3822529" y="2553082"/>
            <a:ext cx="3888460"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Problem Definition</a:t>
            </a:r>
          </a:p>
        </p:txBody>
      </p:sp>
      <p:sp>
        <p:nvSpPr>
          <p:cNvPr id="9" name="Rectangle 8"/>
          <p:cNvSpPr/>
          <p:nvPr/>
        </p:nvSpPr>
        <p:spPr>
          <a:xfrm>
            <a:off x="3837382" y="3222645"/>
            <a:ext cx="2864809"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Proposed Work</a:t>
            </a:r>
          </a:p>
        </p:txBody>
      </p:sp>
      <p:sp>
        <p:nvSpPr>
          <p:cNvPr id="10" name="Rectangle 9"/>
          <p:cNvSpPr/>
          <p:nvPr/>
        </p:nvSpPr>
        <p:spPr>
          <a:xfrm>
            <a:off x="3822529" y="3886034"/>
            <a:ext cx="5364342"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Methodology &amp; Implementation</a:t>
            </a:r>
          </a:p>
        </p:txBody>
      </p:sp>
      <p:sp>
        <p:nvSpPr>
          <p:cNvPr id="11" name="Rectangle 10"/>
          <p:cNvSpPr/>
          <p:nvPr/>
        </p:nvSpPr>
        <p:spPr>
          <a:xfrm>
            <a:off x="3873081" y="4516402"/>
            <a:ext cx="4502650"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Results &amp; Discussions</a:t>
            </a:r>
          </a:p>
        </p:txBody>
      </p:sp>
      <p:sp>
        <p:nvSpPr>
          <p:cNvPr id="12" name="Rectangle 11"/>
          <p:cNvSpPr/>
          <p:nvPr/>
        </p:nvSpPr>
        <p:spPr>
          <a:xfrm>
            <a:off x="3873787" y="5145790"/>
            <a:ext cx="2250619"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Conclusion</a:t>
            </a:r>
          </a:p>
        </p:txBody>
      </p:sp>
      <p:sp>
        <p:nvSpPr>
          <p:cNvPr id="13" name="Rectangle 12"/>
          <p:cNvSpPr/>
          <p:nvPr/>
        </p:nvSpPr>
        <p:spPr>
          <a:xfrm>
            <a:off x="3885039" y="5833978"/>
            <a:ext cx="2495940" cy="523220"/>
          </a:xfrm>
          <a:prstGeom prst="rect">
            <a:avLst/>
          </a:prstGeom>
        </p:spPr>
        <p:txBody>
          <a:bodyPr wrap="square">
            <a:spAutoFit/>
          </a:bodyPr>
          <a:lstStyle/>
          <a:p>
            <a:pPr>
              <a:defRPr/>
            </a:pPr>
            <a:r>
              <a:rPr lang="en-IN" sz="2800" b="1" dirty="0">
                <a:latin typeface="Bahnschrift SemiBold" panose="020B0502040204020203" pitchFamily="34" charset="0"/>
                <a:ea typeface="Malgun Gothic" panose="020B0503020000020004" pitchFamily="34" charset="-127"/>
              </a:rPr>
              <a:t>References</a:t>
            </a:r>
            <a:endParaRPr lang="en-US" sz="2800" b="1" dirty="0">
              <a:latin typeface="Bahnschrift SemiBold" panose="020B0502040204020203" pitchFamily="34" charset="0"/>
              <a:ea typeface="Malgun Gothic" panose="020B0503020000020004" pitchFamily="34" charset="-127"/>
            </a:endParaRPr>
          </a:p>
        </p:txBody>
      </p:sp>
      <p:sp>
        <p:nvSpPr>
          <p:cNvPr id="20" name="Text Placeholder 1"/>
          <p:cNvSpPr>
            <a:spLocks noGrp="1"/>
          </p:cNvSpPr>
          <p:nvPr>
            <p:ph type="body" sz="quarter" idx="4294967295"/>
          </p:nvPr>
        </p:nvSpPr>
        <p:spPr>
          <a:xfrm>
            <a:off x="209735" y="2740546"/>
            <a:ext cx="3362007" cy="671512"/>
          </a:xfrm>
        </p:spPr>
        <p:txBody>
          <a:bodyPr>
            <a:noAutofit/>
          </a:bodyPr>
          <a:lstStyle/>
          <a:p>
            <a:pPr marL="0" indent="0">
              <a:buNone/>
            </a:pPr>
            <a:r>
              <a:rPr lang="en-US" altLang="en-US" sz="4800" b="1" dirty="0">
                <a:solidFill>
                  <a:srgbClr val="2A186E"/>
                </a:solidFill>
                <a:latin typeface="Lucida Console" panose="020B0609040504020204" pitchFamily="49" charset="0"/>
              </a:rPr>
              <a:t>Contents</a:t>
            </a:r>
            <a:endParaRPr lang="en-US" sz="4800" dirty="0">
              <a:solidFill>
                <a:srgbClr val="2A186E"/>
              </a:solidFill>
              <a:latin typeface="Lucida Console" panose="020B0609040504020204" pitchFamily="49" charset="0"/>
            </a:endParaRPr>
          </a:p>
        </p:txBody>
      </p:sp>
    </p:spTree>
    <p:extLst>
      <p:ext uri="{BB962C8B-B14F-4D97-AF65-F5344CB8AC3E}">
        <p14:creationId xmlns:p14="http://schemas.microsoft.com/office/powerpoint/2010/main" val="6641380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85000" lnSpcReduction="20000"/>
          </a:bodyPr>
          <a:lstStyle/>
          <a:p>
            <a:r>
              <a:rPr lang="en-US" dirty="0"/>
              <a:t>Hate speech detection is crucial for secure online environments, especially with recent policy changes on social media. </a:t>
            </a:r>
            <a:endParaRPr lang="en-US" dirty="0" smtClean="0"/>
          </a:p>
          <a:p>
            <a:r>
              <a:rPr lang="en-US" dirty="0" smtClean="0"/>
              <a:t>This </a:t>
            </a:r>
            <a:r>
              <a:rPr lang="en-US" dirty="0"/>
              <a:t>study enhances the Llama 2 model by fine-tuning it with a comprehensive Twitter dataset to improve hate speech detection accuracy. </a:t>
            </a:r>
            <a:endParaRPr lang="en-US" dirty="0" smtClean="0"/>
          </a:p>
          <a:p>
            <a:r>
              <a:rPr lang="en-US" dirty="0" smtClean="0"/>
              <a:t>The </a:t>
            </a:r>
            <a:r>
              <a:rPr lang="en-US" dirty="0"/>
              <a:t>system's frontend allows users to upload or record audio, upload videos, or provide YouTube URLs, with processing managed by the Google Speech Recognition API and the Whisper library. </a:t>
            </a:r>
            <a:r>
              <a:rPr lang="en-US" dirty="0" smtClean="0"/>
              <a:t>The </a:t>
            </a:r>
            <a:r>
              <a:rPr lang="en-US" dirty="0"/>
              <a:t>backend integrates advanced speech recognition and video processing technologies. </a:t>
            </a:r>
            <a:endParaRPr lang="en-US" dirty="0" smtClean="0"/>
          </a:p>
          <a:p>
            <a:r>
              <a:rPr lang="en-US" dirty="0" smtClean="0"/>
              <a:t>The </a:t>
            </a:r>
            <a:r>
              <a:rPr lang="en-US" dirty="0"/>
              <a:t>refined Llama 2 model achieved an F1 score of </a:t>
            </a:r>
            <a:r>
              <a:rPr lang="en-US" dirty="0" smtClean="0"/>
              <a:t>0.96, </a:t>
            </a:r>
            <a:r>
              <a:rPr lang="en-US" dirty="0"/>
              <a:t>with accuracy, precision, and recall metrics surpassing other state-of-the-art models. </a:t>
            </a:r>
            <a:endParaRPr lang="en-US" dirty="0" smtClean="0"/>
          </a:p>
          <a:p>
            <a:r>
              <a:rPr lang="en-US" dirty="0" smtClean="0"/>
              <a:t>These </a:t>
            </a:r>
            <a:r>
              <a:rPr lang="en-US" dirty="0"/>
              <a:t>results demonstrate the model's high effectiveness and reliability in hate speech detection. This research highlights the potential of transformer- based models in enhancing online safety and inclusivity. </a:t>
            </a:r>
            <a:endParaRPr lang="en-US" dirty="0" smtClean="0"/>
          </a:p>
          <a:p>
            <a:r>
              <a:rPr lang="en-US" dirty="0" smtClean="0"/>
              <a:t>Future </a:t>
            </a:r>
            <a:r>
              <a:rPr lang="en-US" dirty="0"/>
              <a:t>work will focus on expanding the dataset, improving model generalization, supporting additional languages, and enhancing system scalability to better handle evolving hate speech forms.</a:t>
            </a:r>
            <a:endParaRPr lang="en-IN" dirty="0"/>
          </a:p>
        </p:txBody>
      </p:sp>
      <p:sp>
        <p:nvSpPr>
          <p:cNvPr id="5" name="Text Placeholder 4"/>
          <p:cNvSpPr>
            <a:spLocks noGrp="1"/>
          </p:cNvSpPr>
          <p:nvPr>
            <p:ph type="body" sz="quarter" idx="11"/>
          </p:nvPr>
        </p:nvSpPr>
        <p:spPr>
          <a:xfrm>
            <a:off x="1359852" y="470540"/>
            <a:ext cx="5659437" cy="572448"/>
          </a:xfrm>
        </p:spPr>
        <p:txBody>
          <a:bodyPr>
            <a:normAutofit lnSpcReduction="10000"/>
          </a:bodyPr>
          <a:lstStyle/>
          <a:p>
            <a:pPr>
              <a:defRPr/>
            </a:pPr>
            <a:r>
              <a:rPr lang="en-US" sz="3600" b="1" dirty="0">
                <a:solidFill>
                  <a:srgbClr val="2A186E"/>
                </a:solidFill>
                <a:latin typeface="Lucida Console" panose="020B0609040504020204" pitchFamily="49" charset="0"/>
              </a:rPr>
              <a:t>Abstract</a:t>
            </a:r>
            <a:endParaRPr lang="en-IN" sz="3600" b="1" dirty="0">
              <a:solidFill>
                <a:srgbClr val="2A186E"/>
              </a:solidFill>
              <a:latin typeface="Lucida Console" panose="020B0609040504020204" pitchFamily="49" charset="0"/>
            </a:endParaRPr>
          </a:p>
        </p:txBody>
      </p:sp>
    </p:spTree>
    <p:extLst>
      <p:ext uri="{BB962C8B-B14F-4D97-AF65-F5344CB8AC3E}">
        <p14:creationId xmlns:p14="http://schemas.microsoft.com/office/powerpoint/2010/main" val="39001083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92500" lnSpcReduction="20000"/>
          </a:bodyPr>
          <a:lstStyle/>
          <a:p>
            <a:r>
              <a:rPr lang="en-US" dirty="0"/>
              <a:t>Hate speech poses a significant challenge in today's digital landscape, threatening principles of tolerance and inclusivity by targeting individuals or groups based on various attributes.</a:t>
            </a:r>
          </a:p>
          <a:p>
            <a:r>
              <a:rPr lang="en-US" dirty="0"/>
              <a:t>Robust hate speech detection systems are essential to mitigate the spread of harmful content and address the risks of inciting violence, perpetuating discrimination, and fostering social division.</a:t>
            </a:r>
          </a:p>
          <a:p>
            <a:r>
              <a:rPr lang="en-US" dirty="0"/>
              <a:t>Large Language Models (LLMs), such as </a:t>
            </a:r>
            <a:r>
              <a:rPr lang="en-US" dirty="0" err="1"/>
              <a:t>LLama</a:t>
            </a:r>
            <a:r>
              <a:rPr lang="en-US" dirty="0"/>
              <a:t> 2, leverage advanced techniques like attention mechanisms and transformer architectures to understand complex linguistic structures.</a:t>
            </a:r>
          </a:p>
          <a:p>
            <a:r>
              <a:rPr lang="en-US" dirty="0"/>
              <a:t>The proposed research aims to harness the capabilities of the </a:t>
            </a:r>
            <a:r>
              <a:rPr lang="en-US" dirty="0" err="1"/>
              <a:t>LLama</a:t>
            </a:r>
            <a:r>
              <a:rPr lang="en-US" dirty="0"/>
              <a:t> 2 model for hate speech detection by fine-tuning it on a curated dataset to enhance accuracy in identifying hate speech in multimodal content.</a:t>
            </a:r>
          </a:p>
          <a:p>
            <a:r>
              <a:rPr lang="en-US" dirty="0"/>
              <a:t>The study seeks to demonstrate the effectiveness of this methodology in accurately classifying hate speech content through rigorous experimentation and evaluation, contributing to safer and more inclusive digital spaces.</a:t>
            </a:r>
          </a:p>
          <a:p>
            <a:endParaRPr lang="en-IN" dirty="0"/>
          </a:p>
        </p:txBody>
      </p:sp>
      <p:sp>
        <p:nvSpPr>
          <p:cNvPr id="3" name="Text Placeholder 2"/>
          <p:cNvSpPr>
            <a:spLocks noGrp="1"/>
          </p:cNvSpPr>
          <p:nvPr>
            <p:ph type="body" sz="quarter" idx="11"/>
          </p:nvPr>
        </p:nvSpPr>
        <p:spPr>
          <a:xfrm>
            <a:off x="1399223" y="423550"/>
            <a:ext cx="5640070" cy="671512"/>
          </a:xfrm>
        </p:spPr>
        <p:txBody>
          <a:bodyPr>
            <a:normAutofit/>
          </a:bodyPr>
          <a:lstStyle/>
          <a:p>
            <a:pPr>
              <a:defRPr/>
            </a:pPr>
            <a:r>
              <a:rPr lang="en-US" sz="3600" b="1" dirty="0">
                <a:solidFill>
                  <a:srgbClr val="2A186E"/>
                </a:solidFill>
                <a:latin typeface="Lucida Console" panose="020B0609040504020204" pitchFamily="49" charset="0"/>
              </a:rPr>
              <a:t>Introduction</a:t>
            </a:r>
          </a:p>
        </p:txBody>
      </p:sp>
    </p:spTree>
    <p:extLst>
      <p:ext uri="{BB962C8B-B14F-4D97-AF65-F5344CB8AC3E}">
        <p14:creationId xmlns:p14="http://schemas.microsoft.com/office/powerpoint/2010/main" val="506873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62500" lnSpcReduction="20000"/>
          </a:bodyPr>
          <a:lstStyle/>
          <a:p>
            <a:r>
              <a:rPr lang="en-IN" b="1" dirty="0"/>
              <a:t>A. Advances in LLMs and Model Architectures</a:t>
            </a:r>
            <a:r>
              <a:rPr lang="en-IN" dirty="0"/>
              <a:t/>
            </a:r>
            <a:br>
              <a:rPr lang="en-IN" dirty="0"/>
            </a:br>
            <a:r>
              <a:rPr lang="en-IN" dirty="0"/>
              <a:t>Modified LLMs, as explored by </a:t>
            </a:r>
            <a:r>
              <a:rPr lang="en-IN" dirty="0" err="1"/>
              <a:t>Pendzel</a:t>
            </a:r>
            <a:r>
              <a:rPr lang="en-IN" dirty="0"/>
              <a:t> et al. (2023), improve lexical diversity but may impact precision and recall [1]. The '</a:t>
            </a:r>
            <a:r>
              <a:rPr lang="en-IN" dirty="0" err="1"/>
              <a:t>HateDetector</a:t>
            </a:r>
            <a:r>
              <a:rPr lang="en-IN" dirty="0"/>
              <a:t>' model combines profanity checks with BERT and MLP, achieving 97.9% accuracy [2]. </a:t>
            </a:r>
            <a:r>
              <a:rPr lang="en-IN" dirty="0" err="1"/>
              <a:t>BiCHAT</a:t>
            </a:r>
            <a:r>
              <a:rPr lang="en-IN" dirty="0"/>
              <a:t>, using BERT, CNN, and </a:t>
            </a:r>
            <a:r>
              <a:rPr lang="en-IN" dirty="0" err="1"/>
              <a:t>BiLSTM</a:t>
            </a:r>
            <a:r>
              <a:rPr lang="en-IN" dirty="0"/>
              <a:t>, enhances performance metrics on Twitter [3]. Tailored prompts show promise for zero-shot scenarios but require careful design [4].</a:t>
            </a:r>
          </a:p>
          <a:p>
            <a:r>
              <a:rPr lang="en-IN" b="1" dirty="0"/>
              <a:t>B. Data-Driven and Multimodal Approaches</a:t>
            </a:r>
            <a:r>
              <a:rPr lang="en-IN" dirty="0"/>
              <a:t/>
            </a:r>
            <a:br>
              <a:rPr lang="en-IN" dirty="0"/>
            </a:br>
            <a:r>
              <a:rPr lang="en-IN" dirty="0" err="1"/>
              <a:t>Hamzah</a:t>
            </a:r>
            <a:r>
              <a:rPr lang="en-IN" dirty="0"/>
              <a:t> et al. (2023) achieved 78.5% accuracy with audio features in </a:t>
            </a:r>
            <a:r>
              <a:rPr lang="en-IN" dirty="0" err="1"/>
              <a:t>TikTok</a:t>
            </a:r>
            <a:r>
              <a:rPr lang="en-IN" dirty="0"/>
              <a:t> videos [5]. Saleh et al. (2023) demonstrated high F1-scores with domain-specific </a:t>
            </a:r>
            <a:r>
              <a:rPr lang="en-IN" dirty="0" err="1"/>
              <a:t>embeddings</a:t>
            </a:r>
            <a:r>
              <a:rPr lang="en-IN" dirty="0"/>
              <a:t> [6]. Lai et al. (2023) combined audio, text, and video features for 87% accuracy [7].</a:t>
            </a:r>
          </a:p>
          <a:p>
            <a:r>
              <a:rPr lang="en-IN" b="1" dirty="0"/>
              <a:t>C. Comparative Analyses and Real-World Applications</a:t>
            </a:r>
            <a:r>
              <a:rPr lang="en-IN" dirty="0"/>
              <a:t/>
            </a:r>
            <a:br>
              <a:rPr lang="en-IN" dirty="0"/>
            </a:br>
            <a:r>
              <a:rPr lang="en-IN" dirty="0"/>
              <a:t>Studies compared various models including transformers and classical classifiers [8]. </a:t>
            </a:r>
            <a:r>
              <a:rPr lang="en-IN" dirty="0" err="1"/>
              <a:t>ChatGPT</a:t>
            </a:r>
            <a:r>
              <a:rPr lang="en-IN" dirty="0"/>
              <a:t> achieved a competitive F1-score of 73% on Portuguese tweets [9]. A review from 2010 to 2022 identified trends and future directions [10].</a:t>
            </a:r>
          </a:p>
          <a:p>
            <a:r>
              <a:rPr lang="en-IN" b="1" dirty="0"/>
              <a:t>D. Platform-Specific and Ethical Considerations</a:t>
            </a:r>
            <a:r>
              <a:rPr lang="en-IN" dirty="0"/>
              <a:t/>
            </a:r>
            <a:br>
              <a:rPr lang="en-IN" dirty="0"/>
            </a:br>
            <a:r>
              <a:rPr lang="en-IN" dirty="0"/>
              <a:t>Malik et al. (2022) stressed the need for context-aware models [11]. Saleh et al. (2023) explored LLMs for legally enforceable detection [12]. Studies by William et al. (2022) and </a:t>
            </a:r>
            <a:r>
              <a:rPr lang="en-IN" dirty="0" err="1"/>
              <a:t>García-Díaz</a:t>
            </a:r>
            <a:r>
              <a:rPr lang="en-IN" dirty="0"/>
              <a:t> et al. (2023) focused on transformer models for Marathi and Telugu [13][14]. </a:t>
            </a:r>
            <a:r>
              <a:rPr lang="en-IN" dirty="0" err="1"/>
              <a:t>Velankar</a:t>
            </a:r>
            <a:r>
              <a:rPr lang="en-IN" dirty="0"/>
              <a:t> et al. (2022) examined LLM responses in reducing harmful social media content [15].</a:t>
            </a:r>
          </a:p>
          <a:p>
            <a:r>
              <a:rPr lang="en-IN" b="1" dirty="0"/>
              <a:t>E. Exploration of Diverse Detection Methods and Models</a:t>
            </a:r>
            <a:r>
              <a:rPr lang="en-IN" dirty="0"/>
              <a:t/>
            </a:r>
            <a:br>
              <a:rPr lang="en-IN" dirty="0"/>
            </a:br>
            <a:r>
              <a:rPr lang="en-IN" dirty="0"/>
              <a:t>Oliveira et al. (2023) used </a:t>
            </a:r>
            <a:r>
              <a:rPr lang="en-IN" dirty="0" err="1"/>
              <a:t>GloVe</a:t>
            </a:r>
            <a:r>
              <a:rPr lang="en-IN" dirty="0"/>
              <a:t> </a:t>
            </a:r>
            <a:r>
              <a:rPr lang="en-IN" dirty="0" err="1"/>
              <a:t>embeddings</a:t>
            </a:r>
            <a:r>
              <a:rPr lang="en-IN" dirty="0"/>
              <a:t> and CNNs for classification [16]. Nasir et al. (2023) and </a:t>
            </a:r>
            <a:r>
              <a:rPr lang="en-IN" dirty="0" err="1"/>
              <a:t>Khanduja</a:t>
            </a:r>
            <a:r>
              <a:rPr lang="en-IN" dirty="0"/>
              <a:t> et al. (2023) applied various </a:t>
            </a:r>
            <a:r>
              <a:rPr lang="en-IN" dirty="0" err="1"/>
              <a:t>embeddings</a:t>
            </a:r>
            <a:r>
              <a:rPr lang="en-IN" dirty="0"/>
              <a:t> for hate speech detection [17][18]. </a:t>
            </a:r>
            <a:r>
              <a:rPr lang="en-IN" dirty="0" err="1"/>
              <a:t>Anjum</a:t>
            </a:r>
            <a:r>
              <a:rPr lang="en-IN" dirty="0"/>
              <a:t> and </a:t>
            </a:r>
            <a:r>
              <a:rPr lang="en-IN" dirty="0" err="1"/>
              <a:t>Katarya</a:t>
            </a:r>
            <a:r>
              <a:rPr lang="en-IN" dirty="0"/>
              <a:t> (2023) utilized sentence </a:t>
            </a:r>
            <a:r>
              <a:rPr lang="en-IN" dirty="0" err="1"/>
              <a:t>embeddings</a:t>
            </a:r>
            <a:r>
              <a:rPr lang="en-IN" dirty="0"/>
              <a:t> for Mexican Spanish tweets [19]. </a:t>
            </a:r>
            <a:r>
              <a:rPr lang="en-IN" dirty="0" err="1"/>
              <a:t>Podolak</a:t>
            </a:r>
            <a:r>
              <a:rPr lang="en-IN" dirty="0"/>
              <a:t> et al. (2023) reviewed pre-trained LLMs and highlighted the need for further refinement [20].</a:t>
            </a:r>
          </a:p>
          <a:p>
            <a:endParaRPr lang="en-IN" dirty="0"/>
          </a:p>
        </p:txBody>
      </p:sp>
      <p:sp>
        <p:nvSpPr>
          <p:cNvPr id="3" name="Text Placeholder 2"/>
          <p:cNvSpPr>
            <a:spLocks noGrp="1"/>
          </p:cNvSpPr>
          <p:nvPr>
            <p:ph type="body" sz="quarter" idx="11"/>
          </p:nvPr>
        </p:nvSpPr>
        <p:spPr>
          <a:xfrm>
            <a:off x="1352868" y="380687"/>
            <a:ext cx="5659437" cy="671512"/>
          </a:xfrm>
        </p:spPr>
        <p:txBody>
          <a:bodyPr/>
          <a:lstStyle/>
          <a:p>
            <a:pPr>
              <a:defRPr/>
            </a:pPr>
            <a:r>
              <a:rPr lang="en-IN" sz="3600" b="1" dirty="0">
                <a:solidFill>
                  <a:srgbClr val="2A186E"/>
                </a:solidFill>
                <a:latin typeface="Lucida Console" panose="020B0609040504020204" pitchFamily="49" charset="0"/>
              </a:rPr>
              <a:t>Literature Survey</a:t>
            </a:r>
          </a:p>
          <a:p>
            <a:endParaRPr lang="en-IN" dirty="0"/>
          </a:p>
        </p:txBody>
      </p:sp>
    </p:spTree>
    <p:extLst>
      <p:ext uri="{BB962C8B-B14F-4D97-AF65-F5344CB8AC3E}">
        <p14:creationId xmlns:p14="http://schemas.microsoft.com/office/powerpoint/2010/main" val="7131158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proliferation of hate speech on digital platforms presents a formidable challenge, necessitating robust detection mechanisms.</a:t>
            </a:r>
          </a:p>
          <a:p>
            <a:r>
              <a:rPr lang="en-US" dirty="0"/>
              <a:t>Current approaches, relying on conventional machine learning and single-modal analysis, struggle to effectively identify nuanced hate speech patterns and adapt to evolving online discourse.</a:t>
            </a:r>
          </a:p>
          <a:p>
            <a:r>
              <a:rPr lang="en-US" dirty="0"/>
              <a:t>Additionally, the absence of methodologies integrating multimodal data exacerbates the limitations of existing systems.</a:t>
            </a:r>
          </a:p>
          <a:p>
            <a:r>
              <a:rPr lang="en-US" dirty="0"/>
              <a:t>Thus, there is an urgent need for innovative hate speech detection frameworks leveraging advanced computational models such as fine-tuned Llama 2 and multimodal data integration to enhance accuracy and address the complexities of online hate speech.</a:t>
            </a:r>
          </a:p>
          <a:p>
            <a:endParaRPr lang="en-IN" dirty="0"/>
          </a:p>
        </p:txBody>
      </p:sp>
      <p:sp>
        <p:nvSpPr>
          <p:cNvPr id="3" name="Text Placeholder 2"/>
          <p:cNvSpPr>
            <a:spLocks noGrp="1"/>
          </p:cNvSpPr>
          <p:nvPr>
            <p:ph type="body" sz="quarter" idx="11"/>
          </p:nvPr>
        </p:nvSpPr>
        <p:spPr>
          <a:xfrm>
            <a:off x="1301750" y="423550"/>
            <a:ext cx="5701030" cy="605150"/>
          </a:xfrm>
        </p:spPr>
        <p:txBody>
          <a:bodyPr>
            <a:noAutofit/>
          </a:bodyPr>
          <a:lstStyle/>
          <a:p>
            <a:pPr>
              <a:defRPr/>
            </a:pPr>
            <a:r>
              <a:rPr lang="en-IN" sz="3600" b="1" dirty="0">
                <a:solidFill>
                  <a:srgbClr val="2A186E"/>
                </a:solidFill>
                <a:latin typeface="Lucida Console" panose="020B0609040504020204" pitchFamily="49" charset="0"/>
              </a:rPr>
              <a:t>Problem Definition</a:t>
            </a:r>
          </a:p>
        </p:txBody>
      </p:sp>
    </p:spTree>
    <p:extLst>
      <p:ext uri="{BB962C8B-B14F-4D97-AF65-F5344CB8AC3E}">
        <p14:creationId xmlns:p14="http://schemas.microsoft.com/office/powerpoint/2010/main" val="23531495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47041" y="1394054"/>
            <a:ext cx="6473712" cy="4913820"/>
          </a:xfrm>
        </p:spPr>
        <p:txBody>
          <a:bodyPr>
            <a:normAutofit fontScale="77500" lnSpcReduction="20000"/>
          </a:bodyPr>
          <a:lstStyle/>
          <a:p>
            <a:r>
              <a:rPr lang="en-US" dirty="0"/>
              <a:t>The proposed work focuses on developing a robust and versatile hate speech detection system using a fine-tuned LLAMA 2 model. </a:t>
            </a:r>
            <a:endParaRPr lang="en-US" dirty="0" smtClean="0"/>
          </a:p>
          <a:p>
            <a:r>
              <a:rPr lang="en-US" dirty="0" smtClean="0"/>
              <a:t>The </a:t>
            </a:r>
            <a:r>
              <a:rPr lang="en-US" dirty="0"/>
              <a:t>system will handle </a:t>
            </a:r>
            <a:r>
              <a:rPr lang="en-US" dirty="0" smtClean="0"/>
              <a:t> multiple </a:t>
            </a:r>
            <a:r>
              <a:rPr lang="en-US" dirty="0"/>
              <a:t>input sources, </a:t>
            </a:r>
            <a:r>
              <a:rPr lang="en-US" dirty="0" smtClean="0"/>
              <a:t>including YouTube URLs, </a:t>
            </a:r>
            <a:r>
              <a:rPr lang="en-US" dirty="0"/>
              <a:t>audio, and video, enabling comprehensive coverage of various media formats. </a:t>
            </a:r>
            <a:endParaRPr lang="en-US" dirty="0" smtClean="0"/>
          </a:p>
          <a:p>
            <a:r>
              <a:rPr lang="en-US" dirty="0" smtClean="0"/>
              <a:t>The </a:t>
            </a:r>
            <a:r>
              <a:rPr lang="en-US" dirty="0"/>
              <a:t>LLAMA 2 model, a transformer-based architecture, will be fine-tuned to enhance its performance in identifying hate speech, particularly in </a:t>
            </a:r>
            <a:r>
              <a:rPr lang="en-US" dirty="0" smtClean="0"/>
              <a:t>multimodal </a:t>
            </a:r>
            <a:r>
              <a:rPr lang="en-US" dirty="0"/>
              <a:t>contexts</a:t>
            </a:r>
            <a:r>
              <a:rPr lang="en-US" dirty="0" smtClean="0"/>
              <a:t>.</a:t>
            </a:r>
          </a:p>
          <a:p>
            <a:r>
              <a:rPr lang="en-US" dirty="0"/>
              <a:t>The system's frontend enables users to either upload or record audio, submit video files, or enter YouTube URLs. Processing is handled by the Google Speech Recognition API and the Whisper library. </a:t>
            </a:r>
            <a:endParaRPr lang="en-US" dirty="0" smtClean="0"/>
          </a:p>
          <a:p>
            <a:r>
              <a:rPr lang="en-US" dirty="0" smtClean="0"/>
              <a:t>On </a:t>
            </a:r>
            <a:r>
              <a:rPr lang="en-US" dirty="0"/>
              <a:t>the backend, advanced technologies are integrated for speech recognition and video processing.</a:t>
            </a:r>
            <a:endParaRPr lang="en-IN" dirty="0"/>
          </a:p>
        </p:txBody>
      </p:sp>
      <p:sp>
        <p:nvSpPr>
          <p:cNvPr id="4" name="Text Placeholder 2"/>
          <p:cNvSpPr txBox="1">
            <a:spLocks/>
          </p:cNvSpPr>
          <p:nvPr/>
        </p:nvSpPr>
        <p:spPr>
          <a:xfrm>
            <a:off x="1301433" y="456253"/>
            <a:ext cx="3849687" cy="58673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IN" sz="3600" b="1" dirty="0">
                <a:solidFill>
                  <a:srgbClr val="2A186E"/>
                </a:solidFill>
                <a:latin typeface="Lucida Console" panose="020B0609040504020204" pitchFamily="49" charset="0"/>
              </a:rPr>
              <a:t>Proposed Work</a:t>
            </a:r>
          </a:p>
        </p:txBody>
      </p:sp>
      <p:pic>
        <p:nvPicPr>
          <p:cNvPr id="5" name="Picture 4"/>
          <p:cNvPicPr>
            <a:picLocks noChangeAspect="1"/>
          </p:cNvPicPr>
          <p:nvPr/>
        </p:nvPicPr>
        <p:blipFill>
          <a:blip r:embed="rId2"/>
          <a:stretch>
            <a:fillRect/>
          </a:stretch>
        </p:blipFill>
        <p:spPr>
          <a:xfrm>
            <a:off x="6920752" y="1660518"/>
            <a:ext cx="4787153" cy="4361131"/>
          </a:xfrm>
          <a:prstGeom prst="rect">
            <a:avLst/>
          </a:prstGeom>
        </p:spPr>
      </p:pic>
      <p:sp>
        <p:nvSpPr>
          <p:cNvPr id="6" name="Rectangle 5"/>
          <p:cNvSpPr/>
          <p:nvPr/>
        </p:nvSpPr>
        <p:spPr>
          <a:xfrm>
            <a:off x="7433589" y="6021649"/>
            <a:ext cx="4309706" cy="369332"/>
          </a:xfrm>
          <a:prstGeom prst="rect">
            <a:avLst/>
          </a:prstGeom>
        </p:spPr>
        <p:txBody>
          <a:bodyPr wrap="none">
            <a:spAutoFit/>
          </a:bodyPr>
          <a:lstStyle/>
          <a:p>
            <a:r>
              <a:rPr lang="en-US" dirty="0" smtClean="0"/>
              <a:t>Fig. 1 Flow </a:t>
            </a:r>
            <a:r>
              <a:rPr lang="en-US" dirty="0"/>
              <a:t>Chart of the Proposed Technique</a:t>
            </a:r>
            <a:endParaRPr lang="en-IN" dirty="0"/>
          </a:p>
        </p:txBody>
      </p:sp>
    </p:spTree>
    <p:extLst>
      <p:ext uri="{BB962C8B-B14F-4D97-AF65-F5344CB8AC3E}">
        <p14:creationId xmlns:p14="http://schemas.microsoft.com/office/powerpoint/2010/main" val="18450127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a:spLocks noGrp="1"/>
          </p:cNvSpPr>
          <p:nvPr>
            <p:ph type="body" sz="quarter" idx="11"/>
          </p:nvPr>
        </p:nvSpPr>
        <p:spPr>
          <a:xfrm>
            <a:off x="1249401" y="349927"/>
            <a:ext cx="8219122" cy="664206"/>
          </a:xfrm>
        </p:spPr>
        <p:txBody>
          <a:bodyPr>
            <a:normAutofit fontScale="25000" lnSpcReduction="20000"/>
          </a:bodyPr>
          <a:lstStyle/>
          <a:p>
            <a:pPr>
              <a:lnSpc>
                <a:spcPct val="110000"/>
              </a:lnSpc>
              <a:defRPr/>
            </a:pPr>
            <a:r>
              <a:rPr lang="en-IN" sz="14400" b="1" dirty="0">
                <a:solidFill>
                  <a:srgbClr val="2A186E"/>
                </a:solidFill>
                <a:latin typeface="Lucida Console" panose="020B0609040504020204" pitchFamily="49" charset="0"/>
              </a:rPr>
              <a:t>Methodology &amp; Implementation</a:t>
            </a:r>
          </a:p>
        </p:txBody>
      </p:sp>
      <p:sp>
        <p:nvSpPr>
          <p:cNvPr id="3" name="Rectangle 1"/>
          <p:cNvSpPr>
            <a:spLocks noGrp="1" noChangeArrowheads="1"/>
          </p:cNvSpPr>
          <p:nvPr>
            <p:ph sz="quarter" idx="10"/>
          </p:nvPr>
        </p:nvSpPr>
        <p:spPr bwMode="auto">
          <a:xfrm>
            <a:off x="563581" y="1014133"/>
            <a:ext cx="1145808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rPr>
              <a:t>Dataset Description &amp; Preprocessing:</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None/>
            </a:pPr>
            <a:r>
              <a:rPr kumimoji="0" lang="en-US" altLang="en-US" sz="1800" b="0" i="0" u="none" strike="noStrike" cap="none" normalizeH="0" baseline="0" dirty="0" smtClean="0">
                <a:ln>
                  <a:noFill/>
                </a:ln>
                <a:solidFill>
                  <a:schemeClr val="tx1"/>
                </a:solidFill>
                <a:effectLst/>
              </a:rPr>
              <a:t>The dataset, comprising 24,783 tweets, was categorized into Hate Speech and Non-Hate. Data cleaning involved tokenization, lowercasing, and special character removal. The dataset was balanced to a 60:40 ratio of Non-Hate to Hate tweets, resulting in 10,407 tweets.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rPr>
              <a:t>Prompt Creation:</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None/>
            </a:pPr>
            <a:r>
              <a:rPr kumimoji="0" lang="en-US" altLang="en-US" sz="1800" b="0" i="0" u="none" strike="noStrike" cap="none" normalizeH="0" baseline="0" dirty="0" smtClean="0">
                <a:ln>
                  <a:noFill/>
                </a:ln>
                <a:solidFill>
                  <a:schemeClr val="tx1"/>
                </a:solidFill>
                <a:effectLst/>
              </a:rPr>
              <a:t>A "prompt" column was added to each tweet using feature engineering, making the dataset suitable for LLAMA 2 model training.</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rPr>
              <a:t>Input Handling:</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None/>
            </a:pPr>
            <a:r>
              <a:rPr kumimoji="0" lang="en-US" altLang="en-US" sz="1800" b="0" i="0" u="none" strike="noStrike" cap="none" normalizeH="0" baseline="0" dirty="0" smtClean="0">
                <a:ln>
                  <a:noFill/>
                </a:ln>
                <a:solidFill>
                  <a:schemeClr val="tx1"/>
                </a:solidFill>
                <a:effectLst/>
              </a:rPr>
              <a:t>The frontend allows users to upload or record audio, upload videos, or provide URLs.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rPr>
              <a:t>Data Processing:</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None/>
            </a:pPr>
            <a:r>
              <a:rPr kumimoji="0" lang="en-US" altLang="en-US" sz="1800" b="0" i="0" u="none" strike="noStrike" cap="none" normalizeH="0" baseline="0" dirty="0" smtClean="0">
                <a:ln>
                  <a:noFill/>
                </a:ln>
                <a:solidFill>
                  <a:schemeClr val="tx1"/>
                </a:solidFill>
                <a:effectLst/>
              </a:rPr>
              <a:t>Audio and video inputs are converted to text using the Google Speech Recognition API and Whisper library. Text from URLs is similarly processed.</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rPr>
              <a:t>Hate Speech Detection:</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None/>
            </a:pPr>
            <a:r>
              <a:rPr kumimoji="0" lang="en-US" altLang="en-US" sz="1800" b="0" i="0" u="none" strike="noStrike" cap="none" normalizeH="0" baseline="0" dirty="0" smtClean="0">
                <a:ln>
                  <a:noFill/>
                </a:ln>
                <a:solidFill>
                  <a:schemeClr val="tx1"/>
                </a:solidFill>
                <a:effectLst/>
              </a:rPr>
              <a:t>The Fine-Tuned LLAMA 2 model classifies the text data for hate speech detection.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rPr>
              <a:t>Training Process:</a:t>
            </a:r>
            <a:endParaRPr kumimoji="0" lang="en-US" altLang="en-US" sz="1800" b="0" i="0" u="none" strike="noStrike" cap="none" normalizeH="0" baseline="0" dirty="0" smtClean="0">
              <a:ln>
                <a:noFill/>
              </a:ln>
              <a:solidFill>
                <a:schemeClr val="tx1"/>
              </a:solidFill>
              <a:effectLst/>
            </a:endParaRPr>
          </a:p>
          <a:p>
            <a:pPr marL="457200" lvl="1" indent="0" eaLnBrk="0" fontAlgn="base" hangingPunct="0">
              <a:lnSpc>
                <a:spcPct val="100000"/>
              </a:lnSpc>
              <a:spcBef>
                <a:spcPct val="0"/>
              </a:spcBef>
              <a:spcAft>
                <a:spcPct val="0"/>
              </a:spcAft>
              <a:buNone/>
            </a:pPr>
            <a:r>
              <a:rPr lang="en-US" altLang="en-US" sz="1800" dirty="0"/>
              <a:t>The Fine-Tuned LLAMA 2 model for hate speech detection was trained using the </a:t>
            </a:r>
            <a:r>
              <a:rPr lang="en-US" altLang="en-US" sz="1800" dirty="0" err="1"/>
              <a:t>NousResearch</a:t>
            </a:r>
            <a:r>
              <a:rPr lang="en-US" altLang="en-US" sz="1800" dirty="0"/>
              <a:t>/Llama-2-7b-chat-hf model on a balanced dataset. Key optimizations included mixed precision (fp16) and progressive early termination (PEFT) for efficiency, along with integer quantization (int4) for faster inference. A learning rate of 2e-4 and a batch size of 10 ensured stable training, with a maximum token length of 512 to handle input complexity. Training was guided by a specified trainer (</a:t>
            </a:r>
            <a:r>
              <a:rPr lang="en-US" altLang="en-US" sz="1800" dirty="0" err="1"/>
              <a:t>sft</a:t>
            </a:r>
            <a:r>
              <a:rPr lang="en-US" altLang="en-US" sz="1800" dirty="0"/>
              <a:t>) to align with hate speech </a:t>
            </a:r>
            <a:r>
              <a:rPr lang="en-US" altLang="en-US" sz="1800" dirty="0" smtClean="0"/>
              <a:t>detection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47786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47041" y="1394054"/>
            <a:ext cx="5541384" cy="4913820"/>
          </a:xfrm>
        </p:spPr>
        <p:txBody>
          <a:bodyPr>
            <a:normAutofit fontScale="92500" lnSpcReduction="20000"/>
          </a:bodyPr>
          <a:lstStyle/>
          <a:p>
            <a:r>
              <a:rPr lang="en-US" dirty="0"/>
              <a:t>LLAMA 2 significantly outperforms existing state- of-the-art models such as BERT, </a:t>
            </a:r>
            <a:r>
              <a:rPr lang="en-US" dirty="0" err="1"/>
              <a:t>RoBERTa</a:t>
            </a:r>
            <a:r>
              <a:rPr lang="en-US" dirty="0"/>
              <a:t>, </a:t>
            </a:r>
            <a:r>
              <a:rPr lang="en-US" dirty="0" err="1"/>
              <a:t>DistilBERT</a:t>
            </a:r>
            <a:r>
              <a:rPr lang="en-US" dirty="0"/>
              <a:t>, ELECTRA, and </a:t>
            </a:r>
            <a:r>
              <a:rPr lang="en-US" dirty="0" err="1"/>
              <a:t>XLNet</a:t>
            </a:r>
            <a:r>
              <a:rPr lang="en-US" dirty="0"/>
              <a:t>, with a notable accuracy of 97%, precision of 97.03%, recall of 96.44%, and F1 score of 96.72%. </a:t>
            </a:r>
          </a:p>
          <a:p>
            <a:r>
              <a:rPr lang="en-US" dirty="0"/>
              <a:t>These metrics indicate that LLAMA 2 is highly effective in both identifying true instances of hate speech and minimizing false positives.</a:t>
            </a:r>
          </a:p>
          <a:p>
            <a:r>
              <a:rPr lang="en-US" dirty="0"/>
              <a:t>The model effectively handled diverse input formats, including audio, video, and YouTube URLs, through the use of Google Speech Recognition API and Whisper library.</a:t>
            </a:r>
          </a:p>
          <a:p>
            <a:endParaRPr lang="en-IN" dirty="0"/>
          </a:p>
        </p:txBody>
      </p:sp>
      <p:sp>
        <p:nvSpPr>
          <p:cNvPr id="3" name="Text Placeholder 2"/>
          <p:cNvSpPr>
            <a:spLocks noGrp="1"/>
          </p:cNvSpPr>
          <p:nvPr>
            <p:ph type="body" sz="quarter" idx="11"/>
          </p:nvPr>
        </p:nvSpPr>
        <p:spPr>
          <a:xfrm>
            <a:off x="1305560" y="427678"/>
            <a:ext cx="6725920" cy="586735"/>
          </a:xfrm>
        </p:spPr>
        <p:txBody>
          <a:bodyPr>
            <a:noAutofit/>
          </a:bodyPr>
          <a:lstStyle/>
          <a:p>
            <a:pPr>
              <a:defRPr/>
            </a:pPr>
            <a:r>
              <a:rPr lang="en-IN" sz="3600" b="1" dirty="0">
                <a:solidFill>
                  <a:srgbClr val="2A186E"/>
                </a:solidFill>
                <a:latin typeface="Lucida Console" panose="020B0609040504020204" pitchFamily="49" charset="0"/>
              </a:rPr>
              <a:t>Results &amp; Discussions</a:t>
            </a:r>
          </a:p>
        </p:txBody>
      </p:sp>
      <p:sp>
        <p:nvSpPr>
          <p:cNvPr id="4" name="Rectangle 3"/>
          <p:cNvSpPr/>
          <p:nvPr/>
        </p:nvSpPr>
        <p:spPr>
          <a:xfrm>
            <a:off x="7825933" y="1316113"/>
            <a:ext cx="3346878" cy="338554"/>
          </a:xfrm>
          <a:prstGeom prst="rect">
            <a:avLst/>
          </a:prstGeom>
        </p:spPr>
        <p:txBody>
          <a:bodyPr wrap="none">
            <a:spAutoFit/>
          </a:bodyPr>
          <a:lstStyle/>
          <a:p>
            <a:r>
              <a:rPr lang="en-IN" sz="1600" dirty="0">
                <a:latin typeface="Times New Roman" panose="02020603050405020304" pitchFamily="18" charset="0"/>
                <a:cs typeface="Times New Roman" panose="02020603050405020304" pitchFamily="18" charset="0"/>
              </a:rPr>
              <a:t>PERFORMANCE OF THE MODELS</a:t>
            </a:r>
          </a:p>
        </p:txBody>
      </p:sp>
      <p:pic>
        <p:nvPicPr>
          <p:cNvPr id="5" name="Picture 4"/>
          <p:cNvPicPr>
            <a:picLocks noChangeAspect="1"/>
          </p:cNvPicPr>
          <p:nvPr/>
        </p:nvPicPr>
        <p:blipFill>
          <a:blip r:embed="rId2"/>
          <a:stretch>
            <a:fillRect/>
          </a:stretch>
        </p:blipFill>
        <p:spPr>
          <a:xfrm>
            <a:off x="5988425" y="2260241"/>
            <a:ext cx="6084335" cy="2767824"/>
          </a:xfrm>
          <a:prstGeom prst="rect">
            <a:avLst/>
          </a:prstGeom>
        </p:spPr>
      </p:pic>
    </p:spTree>
    <p:extLst>
      <p:ext uri="{BB962C8B-B14F-4D97-AF65-F5344CB8AC3E}">
        <p14:creationId xmlns:p14="http://schemas.microsoft.com/office/powerpoint/2010/main" val="4631992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70000" lnSpcReduction="20000"/>
          </a:bodyPr>
          <a:lstStyle/>
          <a:p>
            <a:r>
              <a:rPr lang="en-US" dirty="0"/>
              <a:t>This study demonstrated that the Fine-Tuned LLAMA 2 model excels in detecting hate speech across diverse input formats, including audio recordings, video uploads, and YouTube URLs. </a:t>
            </a:r>
            <a:endParaRPr lang="en-US" dirty="0" smtClean="0"/>
          </a:p>
          <a:p>
            <a:r>
              <a:rPr lang="en-US" dirty="0" smtClean="0"/>
              <a:t>It </a:t>
            </a:r>
            <a:r>
              <a:rPr lang="en-US" dirty="0"/>
              <a:t>significantly outperforms existing state- of-the-art models such as BERT, </a:t>
            </a:r>
            <a:r>
              <a:rPr lang="en-US" dirty="0" err="1"/>
              <a:t>RoBERTa</a:t>
            </a:r>
            <a:r>
              <a:rPr lang="en-US" dirty="0"/>
              <a:t>, </a:t>
            </a:r>
            <a:r>
              <a:rPr lang="en-US" dirty="0" err="1"/>
              <a:t>DistilBERT</a:t>
            </a:r>
            <a:r>
              <a:rPr lang="en-US" dirty="0"/>
              <a:t>, ELECTRA, and </a:t>
            </a:r>
            <a:r>
              <a:rPr lang="en-US" dirty="0" err="1"/>
              <a:t>XLNet</a:t>
            </a:r>
            <a:r>
              <a:rPr lang="en-US" dirty="0"/>
              <a:t>, with a notable accuracy of 97%, precision of 97.03%, recall of 96.44%, and F1 score of 96.72%. </a:t>
            </a:r>
            <a:endParaRPr lang="en-US" dirty="0" smtClean="0"/>
          </a:p>
          <a:p>
            <a:r>
              <a:rPr lang="en-US" dirty="0" smtClean="0"/>
              <a:t>These </a:t>
            </a:r>
            <a:r>
              <a:rPr lang="en-US" dirty="0"/>
              <a:t>results underscore LLAMA 2’s effectiveness in accurately identifying hate speech and minimizing false positives, thanks to its advanced architecture and fine-tuning process. </a:t>
            </a:r>
            <a:endParaRPr lang="en-US" dirty="0" smtClean="0"/>
          </a:p>
          <a:p>
            <a:r>
              <a:rPr lang="en-US" dirty="0" smtClean="0"/>
              <a:t>The </a:t>
            </a:r>
            <a:r>
              <a:rPr lang="en-US" dirty="0"/>
              <a:t>deployment framework, utilizing the Google Speech Recognition API and Whisper library, adds versatility for handling various input types</a:t>
            </a:r>
            <a:r>
              <a:rPr lang="en-US" dirty="0" smtClean="0"/>
              <a:t>.</a:t>
            </a:r>
          </a:p>
          <a:p>
            <a:r>
              <a:rPr lang="en-US" dirty="0" smtClean="0"/>
              <a:t>Despite </a:t>
            </a:r>
            <a:r>
              <a:rPr lang="en-US" dirty="0"/>
              <a:t>these achievements, the study has limitations. </a:t>
            </a:r>
            <a:r>
              <a:rPr lang="en-US" dirty="0" smtClean="0"/>
              <a:t>The </a:t>
            </a:r>
            <a:r>
              <a:rPr lang="en-US" dirty="0"/>
              <a:t>evaluation is conducted in a non-real-time setting, which might not accurately represent the model’s performance in dynamic environments. </a:t>
            </a:r>
            <a:endParaRPr lang="en-US" dirty="0" smtClean="0"/>
          </a:p>
          <a:p>
            <a:r>
              <a:rPr lang="en-US" dirty="0" smtClean="0"/>
              <a:t>Furthermore</a:t>
            </a:r>
            <a:r>
              <a:rPr lang="en-US" dirty="0"/>
              <a:t>, the model’s current scope is limited to English, highlighting the need for expansion to support multiple languages and dialects. </a:t>
            </a:r>
            <a:endParaRPr lang="en-US" dirty="0" smtClean="0"/>
          </a:p>
          <a:p>
            <a:r>
              <a:rPr lang="en-US" dirty="0" smtClean="0"/>
              <a:t>Future </a:t>
            </a:r>
            <a:r>
              <a:rPr lang="en-US" dirty="0"/>
              <a:t>research should focus on leveraging larger and more diverse datasets, incorporating cultural and linguistic nuances, and applying continuous learning to adapt to evolving hate speech </a:t>
            </a:r>
            <a:r>
              <a:rPr lang="en-US" dirty="0" smtClean="0"/>
              <a:t>patterns.</a:t>
            </a:r>
          </a:p>
          <a:p>
            <a:r>
              <a:rPr lang="en-US" dirty="0" smtClean="0"/>
              <a:t>Additionally</a:t>
            </a:r>
            <a:r>
              <a:rPr lang="en-US" dirty="0"/>
              <a:t>, extending the model’s capabilities to real-time processing and integrating it with a broader range of social media platforms will enhance its practical applicability.</a:t>
            </a:r>
            <a:endParaRPr lang="en-IN" dirty="0"/>
          </a:p>
        </p:txBody>
      </p:sp>
      <p:sp>
        <p:nvSpPr>
          <p:cNvPr id="3" name="Text Placeholder 2"/>
          <p:cNvSpPr>
            <a:spLocks noGrp="1"/>
          </p:cNvSpPr>
          <p:nvPr>
            <p:ph type="body" sz="quarter" idx="11"/>
          </p:nvPr>
        </p:nvSpPr>
        <p:spPr>
          <a:xfrm>
            <a:off x="1310954" y="492974"/>
            <a:ext cx="3077527" cy="514292"/>
          </a:xfrm>
        </p:spPr>
        <p:txBody>
          <a:bodyPr>
            <a:normAutofit fontScale="92500" lnSpcReduction="10000"/>
          </a:bodyPr>
          <a:lstStyle/>
          <a:p>
            <a:pPr>
              <a:defRPr/>
            </a:pPr>
            <a:r>
              <a:rPr lang="en-IN" sz="3600" b="1" dirty="0">
                <a:solidFill>
                  <a:srgbClr val="2A186E"/>
                </a:solidFill>
                <a:latin typeface="Lucida Console" panose="020B0609040504020204" pitchFamily="49" charset="0"/>
              </a:rPr>
              <a:t>Conclusion</a:t>
            </a:r>
          </a:p>
          <a:p>
            <a:endParaRPr lang="en-IN" dirty="0"/>
          </a:p>
        </p:txBody>
      </p:sp>
    </p:spTree>
    <p:extLst>
      <p:ext uri="{BB962C8B-B14F-4D97-AF65-F5344CB8AC3E}">
        <p14:creationId xmlns:p14="http://schemas.microsoft.com/office/powerpoint/2010/main" val="11445377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55000" lnSpcReduction="20000"/>
          </a:bodyPr>
          <a:lstStyle/>
          <a:p>
            <a:pPr marL="0" indent="0">
              <a:buNone/>
            </a:pPr>
            <a:r>
              <a:rPr lang="en-IN" dirty="0"/>
              <a:t>[1] </a:t>
            </a:r>
            <a:r>
              <a:rPr lang="en-IN" dirty="0" err="1"/>
              <a:t>Pendzel</a:t>
            </a:r>
            <a:r>
              <a:rPr lang="en-IN" dirty="0"/>
              <a:t>, S., </a:t>
            </a:r>
            <a:r>
              <a:rPr lang="en-IN" dirty="0" err="1"/>
              <a:t>Wullach</a:t>
            </a:r>
            <a:r>
              <a:rPr lang="en-IN" dirty="0"/>
              <a:t>, T., Adler, A., &amp; </a:t>
            </a:r>
            <a:r>
              <a:rPr lang="en-IN" dirty="0" err="1"/>
              <a:t>Minkov</a:t>
            </a:r>
            <a:r>
              <a:rPr lang="en-IN" dirty="0"/>
              <a:t>, E. (2023). Generative AI for Hate Speech Detection: Evaluation and Findings. </a:t>
            </a:r>
            <a:r>
              <a:rPr lang="en-IN" dirty="0" err="1"/>
              <a:t>arXiv</a:t>
            </a:r>
            <a:r>
              <a:rPr lang="en-IN" dirty="0"/>
              <a:t> preprint arXiv:2311.09993.</a:t>
            </a:r>
          </a:p>
          <a:p>
            <a:pPr marL="0" indent="0">
              <a:buNone/>
            </a:pPr>
            <a:r>
              <a:rPr lang="en-IN" dirty="0"/>
              <a:t>[2] Ibanez, Michael &amp; </a:t>
            </a:r>
            <a:r>
              <a:rPr lang="en-IN" dirty="0" err="1"/>
              <a:t>Sapinit</a:t>
            </a:r>
            <a:r>
              <a:rPr lang="en-IN" dirty="0"/>
              <a:t>, </a:t>
            </a:r>
            <a:r>
              <a:rPr lang="en-IN" dirty="0" err="1"/>
              <a:t>Ranz</a:t>
            </a:r>
            <a:r>
              <a:rPr lang="en-IN" dirty="0"/>
              <a:t> &amp; Reyes, Lloyd &amp; </a:t>
            </a:r>
            <a:r>
              <a:rPr lang="en-IN" dirty="0" err="1"/>
              <a:t>Hussien</a:t>
            </a:r>
            <a:r>
              <a:rPr lang="en-IN" dirty="0"/>
              <a:t>, Mohammed &amp; Imperial, Joseph Marvin &amp; Rodriguez, Ramon. (2021). Audio-Based Hate Speech Classification from Online Short-Form Videos. 72-77. 10.1109/IALP54817.2021.9675250. </a:t>
            </a:r>
          </a:p>
          <a:p>
            <a:pPr marL="0" indent="0">
              <a:buNone/>
            </a:pPr>
            <a:r>
              <a:rPr lang="en-IN" dirty="0"/>
              <a:t>[3] </a:t>
            </a:r>
            <a:r>
              <a:rPr lang="en-IN" dirty="0" err="1"/>
              <a:t>Anjum</a:t>
            </a:r>
            <a:r>
              <a:rPr lang="en-IN" dirty="0"/>
              <a:t>, </a:t>
            </a:r>
            <a:r>
              <a:rPr lang="en-IN" dirty="0" err="1"/>
              <a:t>Anjum</a:t>
            </a:r>
            <a:r>
              <a:rPr lang="en-IN" dirty="0"/>
              <a:t> &amp; </a:t>
            </a:r>
            <a:r>
              <a:rPr lang="en-IN" dirty="0" err="1"/>
              <a:t>Katarya</a:t>
            </a:r>
            <a:r>
              <a:rPr lang="en-IN" dirty="0"/>
              <a:t>, Rahul. (2023). </a:t>
            </a:r>
            <a:r>
              <a:rPr lang="en-IN" dirty="0" err="1"/>
              <a:t>HateDetector</a:t>
            </a:r>
            <a:r>
              <a:rPr lang="en-IN" dirty="0"/>
              <a:t>: Multilingual technique for the analysis and detection of online hate speech in social networks. Multimedia Tools and Applications. 1-28. 10.1007/s11042-023-16598-x. </a:t>
            </a:r>
          </a:p>
          <a:p>
            <a:pPr marL="0" indent="0">
              <a:buNone/>
            </a:pPr>
            <a:r>
              <a:rPr lang="en-IN" dirty="0"/>
              <a:t>[4] Khan, </a:t>
            </a:r>
            <a:r>
              <a:rPr lang="en-IN" dirty="0" err="1"/>
              <a:t>Shakir</a:t>
            </a:r>
            <a:r>
              <a:rPr lang="en-IN" dirty="0"/>
              <a:t> &amp; </a:t>
            </a:r>
            <a:r>
              <a:rPr lang="en-IN" dirty="0" err="1"/>
              <a:t>Fazil</a:t>
            </a:r>
            <a:r>
              <a:rPr lang="en-IN" dirty="0"/>
              <a:t>, </a:t>
            </a:r>
            <a:r>
              <a:rPr lang="en-IN" dirty="0" err="1"/>
              <a:t>Mohd</a:t>
            </a:r>
            <a:r>
              <a:rPr lang="en-IN" dirty="0"/>
              <a:t> &amp; </a:t>
            </a:r>
            <a:r>
              <a:rPr lang="en-IN" dirty="0" err="1"/>
              <a:t>Sejwal</a:t>
            </a:r>
            <a:r>
              <a:rPr lang="en-IN" dirty="0"/>
              <a:t>, </a:t>
            </a:r>
            <a:r>
              <a:rPr lang="en-IN" dirty="0" err="1"/>
              <a:t>Vineet</a:t>
            </a:r>
            <a:r>
              <a:rPr lang="en-IN" dirty="0"/>
              <a:t> &amp; </a:t>
            </a:r>
            <a:r>
              <a:rPr lang="en-IN" dirty="0" err="1"/>
              <a:t>Alshara</a:t>
            </a:r>
            <a:r>
              <a:rPr lang="en-IN" dirty="0"/>
              <a:t>, Mohammed &amp; </a:t>
            </a:r>
            <a:r>
              <a:rPr lang="en-IN" dirty="0" err="1"/>
              <a:t>Alotaibi</a:t>
            </a:r>
            <a:r>
              <a:rPr lang="en-IN" dirty="0"/>
              <a:t>, </a:t>
            </a:r>
            <a:r>
              <a:rPr lang="en-IN" dirty="0" err="1"/>
              <a:t>Reemiah</a:t>
            </a:r>
            <a:r>
              <a:rPr lang="en-IN" dirty="0"/>
              <a:t> &amp; Kamal, Ashraf &amp; </a:t>
            </a:r>
            <a:r>
              <a:rPr lang="en-IN" dirty="0" err="1"/>
              <a:t>Baig</a:t>
            </a:r>
            <a:r>
              <a:rPr lang="en-IN" dirty="0"/>
              <a:t>, </a:t>
            </a:r>
            <a:r>
              <a:rPr lang="en-IN" dirty="0" err="1"/>
              <a:t>Abdulrauf</a:t>
            </a:r>
            <a:r>
              <a:rPr lang="en-IN" dirty="0"/>
              <a:t>. (2022). </a:t>
            </a:r>
            <a:r>
              <a:rPr lang="en-IN" dirty="0" err="1"/>
              <a:t>BiCHAT</a:t>
            </a:r>
            <a:r>
              <a:rPr lang="en-IN" dirty="0"/>
              <a:t>: </a:t>
            </a:r>
            <a:r>
              <a:rPr lang="en-IN" dirty="0" err="1"/>
              <a:t>BiLSTM</a:t>
            </a:r>
            <a:r>
              <a:rPr lang="en-IN" dirty="0"/>
              <a:t> with deep CNN and hierarchical attention for hate speech detection. Journal of King Saud University - Computer and Information Sciences. 34. 10.1016/j.jksuci.2022.05.006. </a:t>
            </a:r>
          </a:p>
          <a:p>
            <a:pPr marL="0" indent="0">
              <a:buNone/>
            </a:pPr>
            <a:r>
              <a:rPr lang="en-IN" dirty="0"/>
              <a:t>[5] </a:t>
            </a:r>
            <a:r>
              <a:rPr lang="en-IN" dirty="0" err="1"/>
              <a:t>Hamzah</a:t>
            </a:r>
            <a:r>
              <a:rPr lang="en-IN" dirty="0"/>
              <a:t>, </a:t>
            </a:r>
            <a:r>
              <a:rPr lang="en-IN" dirty="0" err="1"/>
              <a:t>Salehah</a:t>
            </a:r>
            <a:r>
              <a:rPr lang="en-IN" dirty="0"/>
              <a:t> &amp; </a:t>
            </a:r>
            <a:r>
              <a:rPr lang="en-IN" dirty="0" err="1"/>
              <a:t>Mohd</a:t>
            </a:r>
            <a:r>
              <a:rPr lang="en-IN" dirty="0"/>
              <a:t>, </a:t>
            </a:r>
            <a:r>
              <a:rPr lang="en-IN" dirty="0" err="1"/>
              <a:t>Masnizah</a:t>
            </a:r>
            <a:r>
              <a:rPr lang="en-IN" dirty="0"/>
              <a:t> &amp; </a:t>
            </a:r>
            <a:r>
              <a:rPr lang="en-IN" dirty="0" err="1"/>
              <a:t>Zakaria</a:t>
            </a:r>
            <a:r>
              <a:rPr lang="en-IN" dirty="0"/>
              <a:t>, </a:t>
            </a:r>
            <a:r>
              <a:rPr lang="en-IN" dirty="0" err="1"/>
              <a:t>Lailatul</a:t>
            </a:r>
            <a:r>
              <a:rPr lang="en-IN" dirty="0"/>
              <a:t>. (2023). Detection of Online Hate Comments Based on Feature Embedding and Deep Learning. 239-244. 10.1109/AiDAS60501.2023.10284606. </a:t>
            </a:r>
          </a:p>
          <a:p>
            <a:pPr marL="0" indent="0">
              <a:buNone/>
            </a:pPr>
            <a:r>
              <a:rPr lang="en-IN" dirty="0"/>
              <a:t>[6] </a:t>
            </a:r>
            <a:r>
              <a:rPr lang="en-IN" dirty="0" err="1"/>
              <a:t>Salminen</a:t>
            </a:r>
            <a:r>
              <a:rPr lang="en-IN" dirty="0"/>
              <a:t>, Joni &amp; </a:t>
            </a:r>
            <a:r>
              <a:rPr lang="en-IN" dirty="0" err="1"/>
              <a:t>Hopf</a:t>
            </a:r>
            <a:r>
              <a:rPr lang="en-IN" dirty="0"/>
              <a:t>, Maximilian &amp; Chowdhury, </a:t>
            </a:r>
            <a:r>
              <a:rPr lang="en-IN" dirty="0" err="1"/>
              <a:t>Shammur</a:t>
            </a:r>
            <a:r>
              <a:rPr lang="en-IN" dirty="0"/>
              <a:t> &amp; Jung, Soon-</a:t>
            </a:r>
            <a:r>
              <a:rPr lang="en-IN" dirty="0" err="1"/>
              <a:t>Gyo</a:t>
            </a:r>
            <a:r>
              <a:rPr lang="en-IN" dirty="0"/>
              <a:t> &amp; </a:t>
            </a:r>
            <a:r>
              <a:rPr lang="en-IN" dirty="0" err="1"/>
              <a:t>Almerekhi</a:t>
            </a:r>
            <a:r>
              <a:rPr lang="en-IN" dirty="0"/>
              <a:t>, Hind &amp; Jansen, Jim. (2020). Developing an online hate classifier for multiple social media platforms. 10. 1. 10.1186/s13673-019-0205-6.</a:t>
            </a:r>
          </a:p>
          <a:p>
            <a:pPr marL="0" indent="0">
              <a:buNone/>
            </a:pPr>
            <a:r>
              <a:rPr lang="en-IN" dirty="0"/>
              <a:t>[7] Lai, </a:t>
            </a:r>
            <a:r>
              <a:rPr lang="en-IN" dirty="0" err="1"/>
              <a:t>Mirko</a:t>
            </a:r>
            <a:r>
              <a:rPr lang="en-IN" dirty="0"/>
              <a:t> &amp; Celli, Fabio &amp; </a:t>
            </a:r>
            <a:r>
              <a:rPr lang="en-IN" dirty="0" err="1"/>
              <a:t>Ramponi</a:t>
            </a:r>
            <a:r>
              <a:rPr lang="en-IN" dirty="0"/>
              <a:t>, Alan &amp; Tonelli, Sara &amp; Bosco, Cristina &amp; Patti, Viviana. (2023). HaSpeeDe3 at EVALITA 2023: Overview of the Political and Religious Hate Speech Detection task. </a:t>
            </a:r>
          </a:p>
          <a:p>
            <a:pPr marL="0" indent="0">
              <a:buNone/>
            </a:pPr>
            <a:r>
              <a:rPr lang="en-IN" dirty="0"/>
              <a:t>[8] </a:t>
            </a:r>
            <a:r>
              <a:rPr lang="en-IN" dirty="0" err="1"/>
              <a:t>Sarthak</a:t>
            </a:r>
            <a:r>
              <a:rPr lang="en-IN" dirty="0"/>
              <a:t> Roy, Ashish </a:t>
            </a:r>
            <a:r>
              <a:rPr lang="en-IN" dirty="0" err="1"/>
              <a:t>Harshvardhan</a:t>
            </a:r>
            <a:r>
              <a:rPr lang="en-IN" dirty="0"/>
              <a:t>, </a:t>
            </a:r>
            <a:r>
              <a:rPr lang="en-IN" dirty="0" err="1"/>
              <a:t>Animesh</a:t>
            </a:r>
            <a:r>
              <a:rPr lang="en-IN" dirty="0"/>
              <a:t> Mukherjee, and </a:t>
            </a:r>
            <a:r>
              <a:rPr lang="en-IN" dirty="0" err="1"/>
              <a:t>Punyajoy</a:t>
            </a:r>
            <a:r>
              <a:rPr lang="en-IN" dirty="0"/>
              <a:t> </a:t>
            </a:r>
            <a:r>
              <a:rPr lang="en-IN" dirty="0" err="1"/>
              <a:t>Saha</a:t>
            </a:r>
            <a:r>
              <a:rPr lang="en-IN" dirty="0"/>
              <a:t>. 2023. Probing LLMs for hate speech detection: strengths and vulnerabilities. In Findings of the Association for Computational Linguistics: EMNLP 2023, pages 6116–6128, Singapore. Association for Computational Linguistics.</a:t>
            </a:r>
          </a:p>
          <a:p>
            <a:pPr marL="0" indent="0">
              <a:buNone/>
            </a:pPr>
            <a:r>
              <a:rPr lang="en-IN" dirty="0"/>
              <a:t>[9] </a:t>
            </a:r>
            <a:r>
              <a:rPr lang="en-IN" dirty="0" err="1"/>
              <a:t>Boishakhi</a:t>
            </a:r>
            <a:r>
              <a:rPr lang="en-IN" dirty="0"/>
              <a:t>, F. T., Shill, P. C., &amp; </a:t>
            </a:r>
            <a:r>
              <a:rPr lang="en-IN" dirty="0" err="1"/>
              <a:t>Alam</a:t>
            </a:r>
            <a:r>
              <a:rPr lang="en-IN" dirty="0"/>
              <a:t>, M. G. R. (2021, December). Multi-modal hate speech detection using machine learning. In 2021 IEEE International Conference on Big Data (Big Data) (pp. 4496-4499). IEEE.</a:t>
            </a:r>
          </a:p>
          <a:p>
            <a:pPr marL="0" indent="0">
              <a:buNone/>
            </a:pPr>
            <a:r>
              <a:rPr lang="en-IN" dirty="0"/>
              <a:t>[10] Luo, C. F., </a:t>
            </a:r>
            <a:r>
              <a:rPr lang="en-IN" dirty="0" err="1"/>
              <a:t>Bhambhoria</a:t>
            </a:r>
            <a:r>
              <a:rPr lang="en-IN" dirty="0"/>
              <a:t>, R., Zhu, X., &amp; </a:t>
            </a:r>
            <a:r>
              <a:rPr lang="en-IN" dirty="0" err="1"/>
              <a:t>Dahan</a:t>
            </a:r>
            <a:r>
              <a:rPr lang="en-IN" dirty="0"/>
              <a:t>, S. (2023). Towards Legally Enforceable Hate Speech Detection for Public Forums. </a:t>
            </a:r>
            <a:r>
              <a:rPr lang="en-IN" dirty="0" err="1"/>
              <a:t>arXiv</a:t>
            </a:r>
            <a:r>
              <a:rPr lang="en-IN" dirty="0"/>
              <a:t> preprint arXiv:2305.13677.</a:t>
            </a:r>
          </a:p>
          <a:p>
            <a:endParaRPr lang="en-IN" dirty="0"/>
          </a:p>
        </p:txBody>
      </p:sp>
      <p:sp>
        <p:nvSpPr>
          <p:cNvPr id="3" name="Text Placeholder 2"/>
          <p:cNvSpPr>
            <a:spLocks noGrp="1"/>
          </p:cNvSpPr>
          <p:nvPr>
            <p:ph type="body" sz="quarter" idx="11"/>
          </p:nvPr>
        </p:nvSpPr>
        <p:spPr>
          <a:xfrm>
            <a:off x="1322388" y="437838"/>
            <a:ext cx="5659437" cy="576575"/>
          </a:xfrm>
        </p:spPr>
        <p:txBody>
          <a:bodyPr>
            <a:normAutofit lnSpcReduction="10000"/>
          </a:bodyPr>
          <a:lstStyle/>
          <a:p>
            <a:pPr>
              <a:defRPr/>
            </a:pPr>
            <a:r>
              <a:rPr lang="en-IN" sz="3600" b="1" dirty="0">
                <a:solidFill>
                  <a:srgbClr val="2A186E"/>
                </a:solidFill>
                <a:latin typeface="Lucida Console" panose="020B0609040504020204" pitchFamily="49" charset="0"/>
              </a:rPr>
              <a:t>References</a:t>
            </a:r>
            <a:endParaRPr lang="en-US" sz="3600" b="1" dirty="0">
              <a:solidFill>
                <a:srgbClr val="2A186E"/>
              </a:solidFill>
              <a:latin typeface="Lucida Console" panose="020B0609040504020204" pitchFamily="49" charset="0"/>
            </a:endParaRPr>
          </a:p>
          <a:p>
            <a:endParaRPr lang="en-IN" dirty="0"/>
          </a:p>
        </p:txBody>
      </p:sp>
    </p:spTree>
    <p:extLst>
      <p:ext uri="{BB962C8B-B14F-4D97-AF65-F5344CB8AC3E}">
        <p14:creationId xmlns:p14="http://schemas.microsoft.com/office/powerpoint/2010/main" val="40759139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fontScale="55000" lnSpcReduction="20000"/>
          </a:bodyPr>
          <a:lstStyle/>
          <a:p>
            <a:pPr marL="0" indent="0">
              <a:buNone/>
            </a:pPr>
            <a:r>
              <a:rPr lang="en-IN" dirty="0"/>
              <a:t>[11] Malik, J. S., Pang, G., &amp; </a:t>
            </a:r>
            <a:r>
              <a:rPr lang="en-IN" dirty="0" err="1"/>
              <a:t>Hengel</a:t>
            </a:r>
            <a:r>
              <a:rPr lang="en-IN" dirty="0"/>
              <a:t>, A. V. D. (2022). Deep learning for hate speech detection: a comparative study. </a:t>
            </a:r>
            <a:r>
              <a:rPr lang="en-IN" dirty="0" err="1"/>
              <a:t>arXiv</a:t>
            </a:r>
            <a:r>
              <a:rPr lang="en-IN" dirty="0"/>
              <a:t> preprint arXiv:2202.09517.</a:t>
            </a:r>
          </a:p>
          <a:p>
            <a:pPr marL="0" indent="0">
              <a:buNone/>
            </a:pPr>
            <a:r>
              <a:rPr lang="en-IN" dirty="0"/>
              <a:t>[12] Saleh, H., </a:t>
            </a:r>
            <a:r>
              <a:rPr lang="en-IN" dirty="0" err="1"/>
              <a:t>Alhothali</a:t>
            </a:r>
            <a:r>
              <a:rPr lang="en-IN" dirty="0"/>
              <a:t>, A., &amp; </a:t>
            </a:r>
            <a:r>
              <a:rPr lang="en-IN" dirty="0" err="1"/>
              <a:t>Moria</a:t>
            </a:r>
            <a:r>
              <a:rPr lang="en-IN" dirty="0"/>
              <a:t>, K. (2023). Detection of hate speech using BERT and hate speech word embedding with deep model. Applied Artificial Intelligence, 37(1), 2166719.</a:t>
            </a:r>
          </a:p>
          <a:p>
            <a:pPr marL="0" indent="0">
              <a:buNone/>
            </a:pPr>
            <a:r>
              <a:rPr lang="en-IN" dirty="0"/>
              <a:t>[13] William, P. &amp; </a:t>
            </a:r>
            <a:r>
              <a:rPr lang="en-IN" dirty="0" err="1"/>
              <a:t>Gade</a:t>
            </a:r>
            <a:r>
              <a:rPr lang="en-IN" dirty="0"/>
              <a:t>, </a:t>
            </a:r>
            <a:r>
              <a:rPr lang="en-IN" dirty="0" err="1"/>
              <a:t>Ritik</a:t>
            </a:r>
            <a:r>
              <a:rPr lang="en-IN" dirty="0"/>
              <a:t> &amp; </a:t>
            </a:r>
            <a:r>
              <a:rPr lang="en-IN" dirty="0" err="1"/>
              <a:t>Chaudhari</a:t>
            </a:r>
            <a:r>
              <a:rPr lang="en-IN" dirty="0"/>
              <a:t>, Rup &amp; </a:t>
            </a:r>
            <a:r>
              <a:rPr lang="en-IN" dirty="0" err="1"/>
              <a:t>Pawar</a:t>
            </a:r>
            <a:r>
              <a:rPr lang="en-IN" dirty="0"/>
              <a:t>, A. &amp; </a:t>
            </a:r>
            <a:r>
              <a:rPr lang="en-IN" dirty="0" err="1"/>
              <a:t>Jawale</a:t>
            </a:r>
            <a:r>
              <a:rPr lang="en-IN" dirty="0"/>
              <a:t>, M.. (2022). Machine Learning based Automatic Hate Speech Recognition System. 315-318. 10.1109/ICSCDS53736.2022.9760959. </a:t>
            </a:r>
          </a:p>
          <a:p>
            <a:pPr marL="0" indent="0">
              <a:buNone/>
            </a:pPr>
            <a:r>
              <a:rPr lang="en-IN" dirty="0"/>
              <a:t>[14]  </a:t>
            </a:r>
            <a:r>
              <a:rPr lang="en-IN" dirty="0" err="1"/>
              <a:t>García-Díaz</a:t>
            </a:r>
            <a:r>
              <a:rPr lang="en-IN" dirty="0"/>
              <a:t>, J. A., Jiménez-</a:t>
            </a:r>
            <a:r>
              <a:rPr lang="en-IN" dirty="0" err="1"/>
              <a:t>Zafra</a:t>
            </a:r>
            <a:r>
              <a:rPr lang="en-IN" dirty="0"/>
              <a:t>, S. M., &amp; Valencia-</a:t>
            </a:r>
            <a:r>
              <a:rPr lang="en-IN" dirty="0" err="1"/>
              <a:t>García</a:t>
            </a:r>
            <a:r>
              <a:rPr lang="en-IN" dirty="0"/>
              <a:t>, R. (2023). </a:t>
            </a:r>
            <a:r>
              <a:rPr lang="en-IN" dirty="0" err="1"/>
              <a:t>UMUTeam</a:t>
            </a:r>
            <a:r>
              <a:rPr lang="en-IN" dirty="0"/>
              <a:t> at HOMO-MEX 2023: Fine-tuning Large Language Models integration for solving hate-speech detection in Mexican Spanish.</a:t>
            </a:r>
          </a:p>
          <a:p>
            <a:pPr marL="0" indent="0">
              <a:buNone/>
            </a:pPr>
            <a:r>
              <a:rPr lang="en-IN" dirty="0"/>
              <a:t>[15] </a:t>
            </a:r>
            <a:r>
              <a:rPr lang="en-IN" dirty="0" err="1"/>
              <a:t>Velankar</a:t>
            </a:r>
            <a:r>
              <a:rPr lang="en-IN" dirty="0"/>
              <a:t>, A., </a:t>
            </a:r>
            <a:r>
              <a:rPr lang="en-IN" dirty="0" err="1"/>
              <a:t>Patil</a:t>
            </a:r>
            <a:r>
              <a:rPr lang="en-IN" dirty="0"/>
              <a:t>, H., Gore, A., </a:t>
            </a:r>
            <a:r>
              <a:rPr lang="en-IN" dirty="0" err="1"/>
              <a:t>Salunke</a:t>
            </a:r>
            <a:r>
              <a:rPr lang="en-IN" dirty="0"/>
              <a:t>, S., &amp; Joshi, R. (2022). L3cube-mahahate: A tweet-based </a:t>
            </a:r>
            <a:r>
              <a:rPr lang="en-IN" dirty="0" err="1"/>
              <a:t>marathi</a:t>
            </a:r>
            <a:r>
              <a:rPr lang="en-IN" dirty="0"/>
              <a:t> hate speech detection dataset and </a:t>
            </a:r>
            <a:r>
              <a:rPr lang="en-IN" dirty="0" err="1"/>
              <a:t>bert</a:t>
            </a:r>
            <a:r>
              <a:rPr lang="en-IN" dirty="0"/>
              <a:t> models. </a:t>
            </a:r>
            <a:r>
              <a:rPr lang="en-IN" dirty="0" err="1"/>
              <a:t>arXiv</a:t>
            </a:r>
            <a:r>
              <a:rPr lang="en-IN" dirty="0"/>
              <a:t> preprint arXiv:2203.13778.</a:t>
            </a:r>
          </a:p>
          <a:p>
            <a:pPr marL="0" indent="0">
              <a:buNone/>
            </a:pPr>
            <a:r>
              <a:rPr lang="en-IN" dirty="0"/>
              <a:t>[16] Oliveira, A. S., </a:t>
            </a:r>
            <a:r>
              <a:rPr lang="en-IN" dirty="0" err="1"/>
              <a:t>Cecote</a:t>
            </a:r>
            <a:r>
              <a:rPr lang="en-IN" dirty="0"/>
              <a:t>, T. C., Silva, P. H., </a:t>
            </a:r>
            <a:r>
              <a:rPr lang="en-IN" dirty="0" err="1"/>
              <a:t>Gertrudes</a:t>
            </a:r>
            <a:r>
              <a:rPr lang="en-IN" dirty="0"/>
              <a:t>, J. C., Freitas, V. L., &amp; Luz, E. J. (2023, September). How Good Is </a:t>
            </a:r>
            <a:r>
              <a:rPr lang="en-IN" dirty="0" err="1"/>
              <a:t>ChatGPT</a:t>
            </a:r>
            <a:r>
              <a:rPr lang="en-IN" dirty="0"/>
              <a:t> For Detecting Hate Speech In Portuguese?. In Anais do XIV </a:t>
            </a:r>
            <a:r>
              <a:rPr lang="en-IN" dirty="0" err="1"/>
              <a:t>Simpósio</a:t>
            </a:r>
            <a:r>
              <a:rPr lang="en-IN" dirty="0"/>
              <a:t> </a:t>
            </a:r>
            <a:r>
              <a:rPr lang="en-IN" dirty="0" err="1"/>
              <a:t>Brasileiro</a:t>
            </a:r>
            <a:r>
              <a:rPr lang="en-IN" dirty="0"/>
              <a:t> de </a:t>
            </a:r>
            <a:r>
              <a:rPr lang="en-IN" dirty="0" err="1"/>
              <a:t>Tecnologia</a:t>
            </a:r>
            <a:r>
              <a:rPr lang="en-IN" dirty="0"/>
              <a:t> da </a:t>
            </a:r>
            <a:r>
              <a:rPr lang="en-IN" dirty="0" err="1"/>
              <a:t>Informação</a:t>
            </a:r>
            <a:r>
              <a:rPr lang="en-IN" dirty="0"/>
              <a:t> e da </a:t>
            </a:r>
            <a:r>
              <a:rPr lang="en-IN" dirty="0" err="1"/>
              <a:t>Linguagem</a:t>
            </a:r>
            <a:r>
              <a:rPr lang="en-IN" dirty="0"/>
              <a:t> Humana (pp. 94-103). SBC.</a:t>
            </a:r>
          </a:p>
          <a:p>
            <a:pPr marL="0" indent="0">
              <a:buNone/>
            </a:pPr>
            <a:r>
              <a:rPr lang="en-IN" dirty="0"/>
              <a:t>[17] Nasir, A., Sharma, A., &amp; </a:t>
            </a:r>
            <a:r>
              <a:rPr lang="en-IN" dirty="0" err="1"/>
              <a:t>Jaidka</a:t>
            </a:r>
            <a:r>
              <a:rPr lang="en-IN" dirty="0"/>
              <a:t>, K. (2023). LLMs and </a:t>
            </a:r>
            <a:r>
              <a:rPr lang="en-IN" dirty="0" err="1"/>
              <a:t>Finetuning</a:t>
            </a:r>
            <a:r>
              <a:rPr lang="en-IN" dirty="0"/>
              <a:t>: Benchmarking cross-domain performance for hate speech detection. </a:t>
            </a:r>
            <a:r>
              <a:rPr lang="en-IN" dirty="0" err="1"/>
              <a:t>arXiv</a:t>
            </a:r>
            <a:r>
              <a:rPr lang="en-IN" dirty="0"/>
              <a:t> preprint arXiv:2310.18964.</a:t>
            </a:r>
          </a:p>
          <a:p>
            <a:pPr marL="0" indent="0">
              <a:buNone/>
            </a:pPr>
            <a:r>
              <a:rPr lang="en-IN" dirty="0"/>
              <a:t>[18] </a:t>
            </a:r>
            <a:r>
              <a:rPr lang="en-IN" dirty="0" err="1"/>
              <a:t>Khanduja</a:t>
            </a:r>
            <a:r>
              <a:rPr lang="en-IN" dirty="0"/>
              <a:t>, N., Kumar, N., &amp; Chauhan, A. Unmasking Hate: Telugu Language Hate Speech Detection Using Transformers. Available at SSRN 4642780.</a:t>
            </a:r>
          </a:p>
          <a:p>
            <a:pPr marL="0" indent="0">
              <a:buNone/>
            </a:pPr>
            <a:r>
              <a:rPr lang="en-IN" dirty="0"/>
              <a:t>[19] </a:t>
            </a:r>
            <a:r>
              <a:rPr lang="en-IN" dirty="0" err="1"/>
              <a:t>Anjum</a:t>
            </a:r>
            <a:r>
              <a:rPr lang="en-IN" dirty="0"/>
              <a:t>, &amp; </a:t>
            </a:r>
            <a:r>
              <a:rPr lang="en-IN" dirty="0" err="1"/>
              <a:t>Katarya</a:t>
            </a:r>
            <a:r>
              <a:rPr lang="en-IN" dirty="0"/>
              <a:t>, R. (2023). Hate speech, toxicity detection in online social media: a recent survey of state of the art and opportunities. International Journal of Information Security, 1-32.</a:t>
            </a:r>
          </a:p>
          <a:p>
            <a:pPr marL="0" indent="0">
              <a:buNone/>
            </a:pPr>
            <a:r>
              <a:rPr lang="en-IN" dirty="0"/>
              <a:t>[20] </a:t>
            </a:r>
            <a:r>
              <a:rPr lang="en-IN" dirty="0" err="1"/>
              <a:t>Podolak</a:t>
            </a:r>
            <a:r>
              <a:rPr lang="en-IN" dirty="0"/>
              <a:t>, J., </a:t>
            </a:r>
            <a:r>
              <a:rPr lang="en-IN" dirty="0" err="1"/>
              <a:t>Łukasik</a:t>
            </a:r>
            <a:r>
              <a:rPr lang="en-IN" dirty="0"/>
              <a:t>, S., </a:t>
            </a:r>
            <a:r>
              <a:rPr lang="en-IN" dirty="0" err="1"/>
              <a:t>Balawender</a:t>
            </a:r>
            <a:r>
              <a:rPr lang="en-IN" dirty="0"/>
              <a:t>, P., </a:t>
            </a:r>
            <a:r>
              <a:rPr lang="en-IN" dirty="0" err="1"/>
              <a:t>Ossowski</a:t>
            </a:r>
            <a:r>
              <a:rPr lang="en-IN" dirty="0"/>
              <a:t>, J., </a:t>
            </a:r>
            <a:r>
              <a:rPr lang="en-IN" dirty="0" err="1"/>
              <a:t>Bąkowicz</a:t>
            </a:r>
            <a:r>
              <a:rPr lang="en-IN" dirty="0"/>
              <a:t>, K., &amp; </a:t>
            </a:r>
            <a:r>
              <a:rPr lang="en-IN" dirty="0" err="1"/>
              <a:t>Sankowski</a:t>
            </a:r>
            <a:r>
              <a:rPr lang="en-IN" dirty="0"/>
              <a:t>, P. (2023). </a:t>
            </a:r>
            <a:r>
              <a:rPr lang="en-IN" dirty="0" err="1"/>
              <a:t>Analyzing</a:t>
            </a:r>
            <a:r>
              <a:rPr lang="en-IN" dirty="0"/>
              <a:t> the Influence of Language Model-Generated Responses in Mitigating Hate Speech on Social Media Directed at Ukrainian Refugees in Poland. </a:t>
            </a:r>
            <a:r>
              <a:rPr lang="en-IN" dirty="0" err="1"/>
              <a:t>arXiv</a:t>
            </a:r>
            <a:r>
              <a:rPr lang="en-IN" dirty="0"/>
              <a:t> preprint arXiv:2311.16905.</a:t>
            </a:r>
          </a:p>
          <a:p>
            <a:pPr marL="0" indent="0">
              <a:buNone/>
            </a:pPr>
            <a:r>
              <a:rPr lang="en-US" dirty="0"/>
              <a:t>[21] Davidson T, </a:t>
            </a:r>
            <a:r>
              <a:rPr lang="en-US" dirty="0" err="1"/>
              <a:t>Warmsley</a:t>
            </a:r>
            <a:r>
              <a:rPr lang="en-US" dirty="0"/>
              <a:t> D, Macy M, Weber I (2017) Automated Hate Speech Detection and the Problem of Offensive Language. Proceedings of the International AAAI Conference on Web and Social Media. https://doi.org/10.1609/icwsm.v11i1.14955</a:t>
            </a:r>
            <a:endParaRPr lang="en-IN" dirty="0"/>
          </a:p>
        </p:txBody>
      </p:sp>
      <p:sp>
        <p:nvSpPr>
          <p:cNvPr id="3" name="Text Placeholder 2"/>
          <p:cNvSpPr>
            <a:spLocks noGrp="1"/>
          </p:cNvSpPr>
          <p:nvPr>
            <p:ph type="body" sz="quarter" idx="11"/>
          </p:nvPr>
        </p:nvSpPr>
        <p:spPr>
          <a:xfrm>
            <a:off x="1322388" y="437838"/>
            <a:ext cx="5659437" cy="576575"/>
          </a:xfrm>
        </p:spPr>
        <p:txBody>
          <a:bodyPr>
            <a:normAutofit lnSpcReduction="10000"/>
          </a:bodyPr>
          <a:lstStyle/>
          <a:p>
            <a:pPr>
              <a:defRPr/>
            </a:pPr>
            <a:r>
              <a:rPr lang="en-IN" sz="3600" b="1" dirty="0">
                <a:solidFill>
                  <a:srgbClr val="2A186E"/>
                </a:solidFill>
                <a:latin typeface="Lucida Console" panose="020B0609040504020204" pitchFamily="49" charset="0"/>
              </a:rPr>
              <a:t>References</a:t>
            </a:r>
            <a:endParaRPr lang="en-US" sz="3600" b="1" dirty="0">
              <a:solidFill>
                <a:srgbClr val="2A186E"/>
              </a:solidFill>
              <a:latin typeface="Lucida Console" panose="020B0609040504020204" pitchFamily="49" charset="0"/>
            </a:endParaRPr>
          </a:p>
          <a:p>
            <a:endParaRPr lang="en-IN" dirty="0"/>
          </a:p>
        </p:txBody>
      </p:sp>
    </p:spTree>
    <p:extLst>
      <p:ext uri="{BB962C8B-B14F-4D97-AF65-F5344CB8AC3E}">
        <p14:creationId xmlns:p14="http://schemas.microsoft.com/office/powerpoint/2010/main" val="27562501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7822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1177</TotalTime>
  <Words>2116</Words>
  <Application>Microsoft Office PowerPoint</Application>
  <PresentationFormat>Widescreen</PresentationFormat>
  <Paragraphs>94</Paragraphs>
  <Slides>13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Malgun Gothic</vt:lpstr>
      <vt:lpstr>Arial</vt:lpstr>
      <vt:lpstr>Bahnschrift</vt:lpstr>
      <vt:lpstr>Bahnschrift SemiBold</vt:lpstr>
      <vt:lpstr>Calibri</vt:lpstr>
      <vt:lpstr>Calibri Light</vt:lpstr>
      <vt:lpstr>Cordia New</vt:lpstr>
      <vt:lpstr>Helvetica Neue Medium</vt:lpstr>
      <vt:lpstr>Lucida Console</vt:lpstr>
      <vt:lpstr>Sitka Small</vt:lpstr>
      <vt:lpstr>Times New Roman</vt:lpstr>
      <vt:lpstr>Trebuchet MS</vt:lpstr>
      <vt:lpstr>Office Theme</vt:lpstr>
      <vt:lpstr>Muiltimodal Hate Speech Detection using Fine-Tuned Llama 2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Renjith</dc:creator>
  <cp:lastModifiedBy>Hi</cp:lastModifiedBy>
  <cp:revision>71</cp:revision>
  <dcterms:created xsi:type="dcterms:W3CDTF">2020-06-22T11:06:50Z</dcterms:created>
  <dcterms:modified xsi:type="dcterms:W3CDTF">2024-08-24T15:25:29Z</dcterms:modified>
</cp:coreProperties>
</file>